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2" r:id="rId18"/>
    <p:sldId id="263" r:id="rId19"/>
    <p:sldId id="264" r:id="rId20"/>
    <p:sldId id="265" r:id="rId21"/>
    <p:sldId id="266" r:id="rId22"/>
    <p:sldId id="259" r:id="rId7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61" r:id="rId8"/>
  </p:sldIdLst>
  <p:sldSz cx="9144000" cy="5143500"/>
  <p:notesSz cx="6858000" cy="9144000"/>
  <p:embeddedFontLst>
    <p:embeddedFont>
      <p:font typeface="Golos Text ExtraBold" panose="020B0503020202020204"/>
      <p:bold r:id="rId12"/>
    </p:embeddedFont>
    <p:embeddedFont>
      <p:font typeface="DM Sans"/>
      <p:regular r:id="rId13"/>
      <p:italic r:id="rId14"/>
      <p:boldItalic r:id="rId15"/>
    </p:embeddedFont>
    <p:embeddedFont>
      <p:font typeface="Fredoka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9.xml"/><Relationship Id="rId8" Type="http://schemas.openxmlformats.org/officeDocument/2006/relationships/slide" Target="slides/slide17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4" name="Google Shape;314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1" name="Google Shape;321;p2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6" name="Google Shape;326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4" name="Google Shape;334;p4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4" name="Google Shape;354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8" descr="A blue and white logo&#10;&#10;Açıklama otomatik olarak oluşturuldu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-6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8"/>
          <p:cNvSpPr txBox="1"/>
          <p:nvPr>
            <p:ph type="subTitle" idx="1"/>
          </p:nvPr>
        </p:nvSpPr>
        <p:spPr>
          <a:xfrm>
            <a:off x="4422964" y="3668255"/>
            <a:ext cx="4274011" cy="807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" name="Google Shape;13;p8"/>
          <p:cNvSpPr txBox="1"/>
          <p:nvPr/>
        </p:nvSpPr>
        <p:spPr>
          <a:xfrm>
            <a:off x="4916148" y="1814454"/>
            <a:ext cx="3780827" cy="235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los Text ExtraBold" panose="020B0503020202020204"/>
              <a:buNone/>
            </a:pPr>
            <a:r>
              <a:rPr lang="tr-TR" sz="800" b="0" i="0" u="none" strike="noStrike" cap="none">
                <a:solidFill>
                  <a:srgbClr val="060861"/>
                </a:solidFill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rPr>
              <a:t>AI Engineering Suite to Support Agile Efficient Software Engineering​</a:t>
            </a:r>
            <a:endParaRPr sz="800" b="0" i="0" u="none" strike="noStrike" cap="none">
              <a:solidFill>
                <a:srgbClr val="060861"/>
              </a:solidFill>
              <a:highlight>
                <a:schemeClr val="dk2"/>
              </a:highlight>
              <a:latin typeface="Golos Text ExtraBold" panose="020B0503020202020204"/>
              <a:ea typeface="Golos Text ExtraBold" panose="020B0503020202020204"/>
              <a:cs typeface="Golos Text ExtraBold" panose="020B0503020202020204"/>
              <a:sym typeface="Golos Text ExtraBold" panose="020B0503020202020204"/>
            </a:endParaRPr>
          </a:p>
        </p:txBody>
      </p:sp>
      <p:pic>
        <p:nvPicPr>
          <p:cNvPr id="14" name="Google Shape;14;p8" descr="A blue letter on a black background&#10;&#10;Yapay zeka tarafından oluşturulan içerik yanlış olabilir.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16149" y="1246701"/>
            <a:ext cx="3780826" cy="516696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8"/>
          <p:cNvSpPr txBox="1"/>
          <p:nvPr>
            <p:ph type="title"/>
          </p:nvPr>
        </p:nvSpPr>
        <p:spPr>
          <a:xfrm>
            <a:off x="1190693" y="3076055"/>
            <a:ext cx="7506281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2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16" name="Google Shape;16;p8"/>
          <p:cNvCxnSpPr>
            <a:endCxn id="17" idx="1"/>
          </p:cNvCxnSpPr>
          <p:nvPr/>
        </p:nvCxnSpPr>
        <p:spPr>
          <a:xfrm>
            <a:off x="5797772" y="4719051"/>
            <a:ext cx="1267800" cy="0"/>
          </a:xfrm>
          <a:prstGeom prst="straightConnector1">
            <a:avLst/>
          </a:prstGeom>
          <a:noFill/>
          <a:ln w="28575" cap="flat" cmpd="sng">
            <a:solidFill>
              <a:srgbClr val="5ACB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8"/>
          <p:cNvSpPr txBox="1"/>
          <p:nvPr/>
        </p:nvSpPr>
        <p:spPr>
          <a:xfrm>
            <a:off x="1005503" y="4503608"/>
            <a:ext cx="163140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7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This project has received funding from the European Union’s Horizon Europe research and innovation programme under grant agreement No 101189908.</a:t>
            </a:r>
            <a:endParaRPr lang="tr-TR" sz="7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9" name="Google Shape;19;p8" descr="flag_yellow_high.jp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13160" y="4512636"/>
            <a:ext cx="625040" cy="41283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8"/>
          <p:cNvSpPr txBox="1"/>
          <p:nvPr/>
        </p:nvSpPr>
        <p:spPr>
          <a:xfrm>
            <a:off x="7065572" y="4569010"/>
            <a:ext cx="163140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350" b="0" i="0" u="none" strike="noStrike" cap="none">
                <a:solidFill>
                  <a:srgbClr val="070E4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www.ai4sweng.eu</a:t>
            </a:r>
            <a:endParaRPr lang="tr-TR" sz="1350" b="0" i="0" u="none" strike="noStrike" cap="none">
              <a:solidFill>
                <a:srgbClr val="070E4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0" name="Google Shape;20;p8" descr="A black background with a black square&#10;&#10;AI-generated content may be incorrect.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636906" y="4475919"/>
            <a:ext cx="3064642" cy="551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9" descr="A black and grey pattern&#10;&#10;Yapay zeka tarafından oluşturulan içerik yanlış olabilir."/>
          <p:cNvPicPr preferRelativeResize="0"/>
          <p:nvPr/>
        </p:nvPicPr>
        <p:blipFill rotWithShape="1">
          <a:blip r:embed="rId2">
            <a:alphaModFix amt="70000"/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9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chemeClr val="accent6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4" name="Google Shape;24;p9"/>
          <p:cNvSpPr txBox="1"/>
          <p:nvPr>
            <p:ph type="title"/>
          </p:nvPr>
        </p:nvSpPr>
        <p:spPr>
          <a:xfrm>
            <a:off x="1714950" y="1460850"/>
            <a:ext cx="5714100" cy="22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36300" y="274408"/>
            <a:ext cx="548657" cy="40070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" name="Google Shape;26;p9"/>
          <p:cNvCxnSpPr>
            <a:endCxn id="27" idx="1"/>
          </p:cNvCxnSpPr>
          <p:nvPr/>
        </p:nvCxnSpPr>
        <p:spPr>
          <a:xfrm>
            <a:off x="5797772" y="4719051"/>
            <a:ext cx="1267800" cy="0"/>
          </a:xfrm>
          <a:prstGeom prst="straightConnector1">
            <a:avLst/>
          </a:prstGeom>
          <a:noFill/>
          <a:ln w="28575" cap="flat" cmpd="sng">
            <a:solidFill>
              <a:srgbClr val="5ACB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28;p9"/>
          <p:cNvSpPr txBox="1"/>
          <p:nvPr/>
        </p:nvSpPr>
        <p:spPr>
          <a:xfrm>
            <a:off x="1005503" y="4503608"/>
            <a:ext cx="163140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7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This project has received funding from the European Union’s Horizon Europe research and innovation programme under grant agreement No 101189908.</a:t>
            </a:r>
            <a:endParaRPr lang="tr-TR" sz="7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9" name="Google Shape;29;p9" descr="flag_yellow_high.jp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13160" y="4512636"/>
            <a:ext cx="625040" cy="412832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9"/>
          <p:cNvSpPr txBox="1"/>
          <p:nvPr/>
        </p:nvSpPr>
        <p:spPr>
          <a:xfrm>
            <a:off x="7065572" y="4569010"/>
            <a:ext cx="163140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350" b="0" i="0" u="none" strike="noStrike" cap="none">
                <a:solidFill>
                  <a:srgbClr val="070E4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www.ai4sweng.eu</a:t>
            </a:r>
            <a:endParaRPr lang="tr-TR" sz="1350" b="0" i="0" u="none" strike="noStrike" cap="none">
              <a:solidFill>
                <a:srgbClr val="070E4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0" name="Google Shape;30;p9" descr="A black background with a black square&#10;&#10;AI-generated content may be incorrect.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636906" y="4475919"/>
            <a:ext cx="3064642" cy="551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7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0" descr="A black and grey pattern&#10;&#10;Yapay zeka tarafından oluşturulan içerik yanlış olabilir."/>
          <p:cNvPicPr preferRelativeResize="0"/>
          <p:nvPr/>
        </p:nvPicPr>
        <p:blipFill rotWithShape="1">
          <a:blip r:embed="rId2">
            <a:alphaModFix amt="70000"/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0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chemeClr val="accent6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4" name="Google Shape;34;p10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36300" y="274408"/>
            <a:ext cx="548657" cy="400705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0"/>
          <p:cNvSpPr txBox="1"/>
          <p:nvPr>
            <p:ph type="body" idx="1"/>
          </p:nvPr>
        </p:nvSpPr>
        <p:spPr>
          <a:xfrm>
            <a:off x="720000" y="1138204"/>
            <a:ext cx="3852000" cy="2996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1600"/>
            </a:lvl2pPr>
            <a:lvl3pPr marL="137160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/>
        </p:txBody>
      </p:sp>
      <p:sp>
        <p:nvSpPr>
          <p:cNvPr id="36" name="Google Shape;36;p10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" name="Google Shape;37;p10"/>
          <p:cNvSpPr/>
          <p:nvPr>
            <p:ph type="pic" idx="2"/>
          </p:nvPr>
        </p:nvSpPr>
        <p:spPr>
          <a:xfrm>
            <a:off x="5262725" y="1138204"/>
            <a:ext cx="3054000" cy="3054600"/>
          </a:xfrm>
          <a:prstGeom prst="roundRect">
            <a:avLst>
              <a:gd name="adj" fmla="val 7563"/>
            </a:avLst>
          </a:prstGeom>
          <a:noFill/>
          <a:ln>
            <a:noFill/>
          </a:ln>
        </p:spPr>
      </p:sp>
      <p:cxnSp>
        <p:nvCxnSpPr>
          <p:cNvPr id="38" name="Google Shape;38;p10"/>
          <p:cNvCxnSpPr>
            <a:endCxn id="39" idx="1"/>
          </p:cNvCxnSpPr>
          <p:nvPr/>
        </p:nvCxnSpPr>
        <p:spPr>
          <a:xfrm>
            <a:off x="5797772" y="4719051"/>
            <a:ext cx="1267800" cy="0"/>
          </a:xfrm>
          <a:prstGeom prst="straightConnector1">
            <a:avLst/>
          </a:prstGeom>
          <a:noFill/>
          <a:ln w="28575" cap="flat" cmpd="sng">
            <a:solidFill>
              <a:srgbClr val="5ACB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" name="Google Shape;40;p10"/>
          <p:cNvSpPr txBox="1"/>
          <p:nvPr/>
        </p:nvSpPr>
        <p:spPr>
          <a:xfrm>
            <a:off x="1005503" y="4503608"/>
            <a:ext cx="163140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7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This project has received funding from the European Union’s Horizon Europe research and innovation programme under grant agreement No 101189908.</a:t>
            </a:r>
            <a:endParaRPr lang="tr-TR" sz="7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41" name="Google Shape;41;p10" descr="flag_yellow_high.jp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13160" y="4512636"/>
            <a:ext cx="625040" cy="412832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0"/>
          <p:cNvSpPr txBox="1"/>
          <p:nvPr/>
        </p:nvSpPr>
        <p:spPr>
          <a:xfrm>
            <a:off x="7065572" y="4569010"/>
            <a:ext cx="163140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350" b="0" i="0" u="none" strike="noStrike" cap="none">
                <a:solidFill>
                  <a:srgbClr val="070E4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www.ai4sweng.eu</a:t>
            </a:r>
            <a:endParaRPr lang="tr-TR" sz="1350" b="0" i="0" u="none" strike="noStrike" cap="none">
              <a:solidFill>
                <a:srgbClr val="070E4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42" name="Google Shape;42;p10" descr="A black background with a black square&#10;&#10;AI-generated content may be incorrect.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636906" y="4475919"/>
            <a:ext cx="3064642" cy="551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1" descr="A black and grey pattern&#10;&#10;Yapay zeka tarafından oluşturulan içerik yanlış olabilir."/>
          <p:cNvPicPr preferRelativeResize="0"/>
          <p:nvPr/>
        </p:nvPicPr>
        <p:blipFill rotWithShape="1">
          <a:blip r:embed="rId2">
            <a:alphaModFix amt="70000"/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1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chemeClr val="accent6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6" name="Google Shape;46;p11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" name="Google Shape;47;p11"/>
          <p:cNvSpPr txBox="1"/>
          <p:nvPr>
            <p:ph type="body" idx="1"/>
          </p:nvPr>
        </p:nvSpPr>
        <p:spPr>
          <a:xfrm>
            <a:off x="720000" y="1149037"/>
            <a:ext cx="3666900" cy="3044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type="body" idx="2"/>
          </p:nvPr>
        </p:nvSpPr>
        <p:spPr>
          <a:xfrm>
            <a:off x="4757100" y="1149037"/>
            <a:ext cx="3666900" cy="3044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u="sng"/>
            </a:lvl1pPr>
            <a:lvl2pPr marL="914400" lvl="1" indent="-30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9pPr>
          </a:lstStyle>
          <a:p/>
        </p:txBody>
      </p:sp>
      <p:pic>
        <p:nvPicPr>
          <p:cNvPr id="49" name="Google Shape;49;p1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36300" y="274408"/>
            <a:ext cx="548657" cy="40070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" name="Google Shape;50;p11"/>
          <p:cNvCxnSpPr>
            <a:endCxn id="51" idx="1"/>
          </p:cNvCxnSpPr>
          <p:nvPr/>
        </p:nvCxnSpPr>
        <p:spPr>
          <a:xfrm>
            <a:off x="5797772" y="4719051"/>
            <a:ext cx="1267800" cy="0"/>
          </a:xfrm>
          <a:prstGeom prst="straightConnector1">
            <a:avLst/>
          </a:prstGeom>
          <a:noFill/>
          <a:ln w="28575" cap="flat" cmpd="sng">
            <a:solidFill>
              <a:srgbClr val="5ACB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" name="Google Shape;52;p11"/>
          <p:cNvSpPr txBox="1"/>
          <p:nvPr/>
        </p:nvSpPr>
        <p:spPr>
          <a:xfrm>
            <a:off x="1005503" y="4503608"/>
            <a:ext cx="163140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7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This project has received funding from the European Union’s Horizon Europe research and innovation programme under grant agreement No 101189908.</a:t>
            </a:r>
            <a:endParaRPr lang="tr-TR" sz="7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53" name="Google Shape;53;p11" descr="flag_yellow_high.jp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13160" y="4512636"/>
            <a:ext cx="625040" cy="412832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1"/>
          <p:cNvSpPr txBox="1"/>
          <p:nvPr/>
        </p:nvSpPr>
        <p:spPr>
          <a:xfrm>
            <a:off x="7065572" y="4569010"/>
            <a:ext cx="163140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350" b="0" i="0" u="none" strike="noStrike" cap="none">
                <a:solidFill>
                  <a:srgbClr val="070E4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www.ai4sweng.eu</a:t>
            </a:r>
            <a:endParaRPr lang="tr-TR" sz="1350" b="0" i="0" u="none" strike="noStrike" cap="none">
              <a:solidFill>
                <a:srgbClr val="070E4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54" name="Google Shape;54;p11" descr="A black background with a black square&#10;&#10;AI-generated content may be incorrect.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636906" y="4475919"/>
            <a:ext cx="3064642" cy="551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2" descr="A black and grey pattern&#10;&#10;Yapay zeka tarafından oluşturulan içerik yanlış olabilir."/>
          <p:cNvPicPr preferRelativeResize="0"/>
          <p:nvPr/>
        </p:nvPicPr>
        <p:blipFill rotWithShape="1">
          <a:blip r:embed="rId2">
            <a:alphaModFix amt="70000"/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2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chemeClr val="accent6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58" name="Google Shape;58;p1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36300" y="274408"/>
            <a:ext cx="548657" cy="40070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2"/>
          <p:cNvSpPr txBox="1"/>
          <p:nvPr>
            <p:ph type="title"/>
          </p:nvPr>
        </p:nvSpPr>
        <p:spPr>
          <a:xfrm>
            <a:off x="720000" y="387600"/>
            <a:ext cx="77016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" name="Google Shape;60;p12"/>
          <p:cNvSpPr txBox="1"/>
          <p:nvPr>
            <p:ph type="subTitle" idx="1"/>
          </p:nvPr>
        </p:nvSpPr>
        <p:spPr>
          <a:xfrm>
            <a:off x="720002" y="1149036"/>
            <a:ext cx="3481668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9pPr>
          </a:lstStyle>
          <a:p/>
        </p:txBody>
      </p:sp>
      <p:sp>
        <p:nvSpPr>
          <p:cNvPr id="61" name="Google Shape;61;p12"/>
          <p:cNvSpPr txBox="1"/>
          <p:nvPr>
            <p:ph type="subTitle" idx="2"/>
          </p:nvPr>
        </p:nvSpPr>
        <p:spPr>
          <a:xfrm>
            <a:off x="720000" y="1555090"/>
            <a:ext cx="3481668" cy="10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2" name="Google Shape;62;p12"/>
          <p:cNvSpPr txBox="1"/>
          <p:nvPr>
            <p:ph type="subTitle" idx="3"/>
          </p:nvPr>
        </p:nvSpPr>
        <p:spPr>
          <a:xfrm>
            <a:off x="720002" y="2828246"/>
            <a:ext cx="3481668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9pPr>
          </a:lstStyle>
          <a:p/>
        </p:txBody>
      </p:sp>
      <p:sp>
        <p:nvSpPr>
          <p:cNvPr id="63" name="Google Shape;63;p12"/>
          <p:cNvSpPr txBox="1"/>
          <p:nvPr>
            <p:ph type="subTitle" idx="4"/>
          </p:nvPr>
        </p:nvSpPr>
        <p:spPr>
          <a:xfrm>
            <a:off x="720000" y="3234312"/>
            <a:ext cx="3481668" cy="10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4" name="Google Shape;64;p12"/>
          <p:cNvSpPr txBox="1"/>
          <p:nvPr>
            <p:ph type="subTitle" idx="5"/>
          </p:nvPr>
        </p:nvSpPr>
        <p:spPr>
          <a:xfrm>
            <a:off x="4563150" y="1149036"/>
            <a:ext cx="3481668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9pPr>
          </a:lstStyle>
          <a:p/>
        </p:txBody>
      </p:sp>
      <p:sp>
        <p:nvSpPr>
          <p:cNvPr id="65" name="Google Shape;65;p12"/>
          <p:cNvSpPr txBox="1"/>
          <p:nvPr>
            <p:ph type="subTitle" idx="6"/>
          </p:nvPr>
        </p:nvSpPr>
        <p:spPr>
          <a:xfrm>
            <a:off x="4563151" y="1555084"/>
            <a:ext cx="3481668" cy="10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type="subTitle" idx="7"/>
          </p:nvPr>
        </p:nvSpPr>
        <p:spPr>
          <a:xfrm>
            <a:off x="4563150" y="2828241"/>
            <a:ext cx="3481668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9pPr>
          </a:lstStyle>
          <a:p/>
        </p:txBody>
      </p:sp>
      <p:sp>
        <p:nvSpPr>
          <p:cNvPr id="67" name="Google Shape;67;p12"/>
          <p:cNvSpPr txBox="1"/>
          <p:nvPr>
            <p:ph type="subTitle" idx="8"/>
          </p:nvPr>
        </p:nvSpPr>
        <p:spPr>
          <a:xfrm>
            <a:off x="4563151" y="3234328"/>
            <a:ext cx="3481668" cy="10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cxnSp>
        <p:nvCxnSpPr>
          <p:cNvPr id="68" name="Google Shape;68;p12"/>
          <p:cNvCxnSpPr>
            <a:endCxn id="69" idx="1"/>
          </p:cNvCxnSpPr>
          <p:nvPr/>
        </p:nvCxnSpPr>
        <p:spPr>
          <a:xfrm>
            <a:off x="5797772" y="4719051"/>
            <a:ext cx="1267800" cy="0"/>
          </a:xfrm>
          <a:prstGeom prst="straightConnector1">
            <a:avLst/>
          </a:prstGeom>
          <a:noFill/>
          <a:ln w="28575" cap="flat" cmpd="sng">
            <a:solidFill>
              <a:srgbClr val="5ACB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0" name="Google Shape;70;p12"/>
          <p:cNvSpPr txBox="1"/>
          <p:nvPr/>
        </p:nvSpPr>
        <p:spPr>
          <a:xfrm>
            <a:off x="1005503" y="4503608"/>
            <a:ext cx="163140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7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This project has received funding from the European Union’s Horizon Europe research and innovation programme under grant agreement No 101189908.</a:t>
            </a:r>
            <a:endParaRPr lang="tr-TR" sz="7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71" name="Google Shape;71;p12" descr="flag_yellow_high.jp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13160" y="4512636"/>
            <a:ext cx="625040" cy="412832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2"/>
          <p:cNvSpPr txBox="1"/>
          <p:nvPr/>
        </p:nvSpPr>
        <p:spPr>
          <a:xfrm>
            <a:off x="7065572" y="4569010"/>
            <a:ext cx="163140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350" b="0" i="0" u="none" strike="noStrike" cap="none">
                <a:solidFill>
                  <a:srgbClr val="070E4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www.ai4sweng.eu</a:t>
            </a:r>
            <a:endParaRPr lang="tr-TR" sz="1350" b="0" i="0" u="none" strike="noStrike" cap="none">
              <a:solidFill>
                <a:srgbClr val="070E4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72" name="Google Shape;72;p12" descr="A black background with a black square&#10;&#10;AI-generated content may be incorrect.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636906" y="4475919"/>
            <a:ext cx="3064642" cy="551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2_3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3" descr="A black and grey pattern&#10;&#10;Yapay zeka tarafından oluşturulan içerik yanlış olabilir."/>
          <p:cNvPicPr preferRelativeResize="0"/>
          <p:nvPr/>
        </p:nvPicPr>
        <p:blipFill rotWithShape="1">
          <a:blip r:embed="rId2">
            <a:alphaModFix amt="70000"/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3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chemeClr val="accent6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76" name="Google Shape;76;p13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36300" y="274408"/>
            <a:ext cx="548657" cy="40070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7" name="Google Shape;77;p13"/>
          <p:cNvGrpSpPr/>
          <p:nvPr/>
        </p:nvGrpSpPr>
        <p:grpSpPr>
          <a:xfrm>
            <a:off x="373912" y="825155"/>
            <a:ext cx="8396407" cy="3300213"/>
            <a:chOff x="487350" y="566398"/>
            <a:chExt cx="8169300" cy="4010704"/>
          </a:xfrm>
        </p:grpSpPr>
        <p:sp>
          <p:nvSpPr>
            <p:cNvPr id="78" name="Google Shape;78;p13"/>
            <p:cNvSpPr/>
            <p:nvPr/>
          </p:nvSpPr>
          <p:spPr>
            <a:xfrm rot="10800000">
              <a:off x="487350" y="627965"/>
              <a:ext cx="8169300" cy="3884400"/>
            </a:xfrm>
            <a:prstGeom prst="roundRect">
              <a:avLst>
                <a:gd name="adj" fmla="val 6093"/>
              </a:avLst>
            </a:prstGeom>
            <a:noFill/>
            <a:ln w="9525" cap="flat" cmpd="sng">
              <a:solidFill>
                <a:schemeClr val="accent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79" name="Google Shape;79;p13"/>
            <p:cNvGrpSpPr/>
            <p:nvPr/>
          </p:nvGrpSpPr>
          <p:grpSpPr>
            <a:xfrm rot="10800000">
              <a:off x="4478151" y="4457913"/>
              <a:ext cx="118496" cy="119189"/>
              <a:chOff x="6916887" y="844381"/>
              <a:chExt cx="102870" cy="103481"/>
            </a:xfrm>
          </p:grpSpPr>
          <p:sp>
            <p:nvSpPr>
              <p:cNvPr id="80" name="Google Shape;80;p13"/>
              <p:cNvSpPr/>
              <p:nvPr/>
            </p:nvSpPr>
            <p:spPr>
              <a:xfrm>
                <a:off x="6940943" y="868436"/>
                <a:ext cx="54757" cy="55370"/>
              </a:xfrm>
              <a:custGeom>
                <a:avLst/>
                <a:gdLst/>
                <a:ahLst/>
                <a:cxnLst/>
                <a:rect l="l" t="t" r="r" b="b"/>
                <a:pathLst>
                  <a:path w="890" h="900" extrusionOk="0">
                    <a:moveTo>
                      <a:pt x="445" y="0"/>
                    </a:moveTo>
                    <a:cubicBezTo>
                      <a:pt x="202" y="0"/>
                      <a:pt x="1" y="201"/>
                      <a:pt x="1" y="455"/>
                    </a:cubicBezTo>
                    <a:cubicBezTo>
                      <a:pt x="1" y="698"/>
                      <a:pt x="202" y="899"/>
                      <a:pt x="445" y="899"/>
                    </a:cubicBezTo>
                    <a:cubicBezTo>
                      <a:pt x="688" y="899"/>
                      <a:pt x="889" y="698"/>
                      <a:pt x="889" y="455"/>
                    </a:cubicBezTo>
                    <a:cubicBezTo>
                      <a:pt x="889" y="201"/>
                      <a:pt x="688" y="0"/>
                      <a:pt x="4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81" name="Google Shape;81;p13"/>
              <p:cNvSpPr/>
              <p:nvPr/>
            </p:nvSpPr>
            <p:spPr>
              <a:xfrm>
                <a:off x="6916887" y="844381"/>
                <a:ext cx="102870" cy="103481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682" extrusionOk="0">
                    <a:moveTo>
                      <a:pt x="836" y="106"/>
                    </a:moveTo>
                    <a:cubicBezTo>
                      <a:pt x="1238" y="106"/>
                      <a:pt x="1566" y="434"/>
                      <a:pt x="1566" y="846"/>
                    </a:cubicBezTo>
                    <a:cubicBezTo>
                      <a:pt x="1566" y="1248"/>
                      <a:pt x="1238" y="1576"/>
                      <a:pt x="836" y="1576"/>
                    </a:cubicBezTo>
                    <a:cubicBezTo>
                      <a:pt x="434" y="1576"/>
                      <a:pt x="106" y="1248"/>
                      <a:pt x="106" y="846"/>
                    </a:cubicBezTo>
                    <a:cubicBezTo>
                      <a:pt x="106" y="434"/>
                      <a:pt x="434" y="106"/>
                      <a:pt x="836" y="106"/>
                    </a:cubicBezTo>
                    <a:close/>
                    <a:moveTo>
                      <a:pt x="836" y="0"/>
                    </a:moveTo>
                    <a:cubicBezTo>
                      <a:pt x="371" y="0"/>
                      <a:pt x="1" y="381"/>
                      <a:pt x="1" y="846"/>
                    </a:cubicBezTo>
                    <a:cubicBezTo>
                      <a:pt x="1" y="1301"/>
                      <a:pt x="371" y="1681"/>
                      <a:pt x="836" y="1681"/>
                    </a:cubicBezTo>
                    <a:cubicBezTo>
                      <a:pt x="1301" y="1681"/>
                      <a:pt x="1671" y="1301"/>
                      <a:pt x="1671" y="846"/>
                    </a:cubicBezTo>
                    <a:cubicBezTo>
                      <a:pt x="1671" y="381"/>
                      <a:pt x="1301" y="0"/>
                      <a:pt x="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grpSp>
          <p:nvGrpSpPr>
            <p:cNvPr id="82" name="Google Shape;82;p13"/>
            <p:cNvGrpSpPr/>
            <p:nvPr/>
          </p:nvGrpSpPr>
          <p:grpSpPr>
            <a:xfrm rot="10800000">
              <a:off x="6888914" y="566398"/>
              <a:ext cx="118496" cy="119189"/>
              <a:chOff x="6620258" y="1050444"/>
              <a:chExt cx="102870" cy="103481"/>
            </a:xfrm>
          </p:grpSpPr>
          <p:sp>
            <p:nvSpPr>
              <p:cNvPr id="83" name="Google Shape;83;p13"/>
              <p:cNvSpPr/>
              <p:nvPr/>
            </p:nvSpPr>
            <p:spPr>
              <a:xfrm>
                <a:off x="6644314" y="1074499"/>
                <a:ext cx="54757" cy="55370"/>
              </a:xfrm>
              <a:custGeom>
                <a:avLst/>
                <a:gdLst/>
                <a:ahLst/>
                <a:cxnLst/>
                <a:rect l="l" t="t" r="r" b="b"/>
                <a:pathLst>
                  <a:path w="890" h="900" extrusionOk="0">
                    <a:moveTo>
                      <a:pt x="445" y="0"/>
                    </a:moveTo>
                    <a:cubicBezTo>
                      <a:pt x="202" y="0"/>
                      <a:pt x="1" y="201"/>
                      <a:pt x="1" y="455"/>
                    </a:cubicBezTo>
                    <a:cubicBezTo>
                      <a:pt x="1" y="698"/>
                      <a:pt x="202" y="899"/>
                      <a:pt x="445" y="899"/>
                    </a:cubicBezTo>
                    <a:cubicBezTo>
                      <a:pt x="688" y="899"/>
                      <a:pt x="889" y="698"/>
                      <a:pt x="889" y="455"/>
                    </a:cubicBezTo>
                    <a:cubicBezTo>
                      <a:pt x="889" y="201"/>
                      <a:pt x="688" y="0"/>
                      <a:pt x="4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84" name="Google Shape;84;p13"/>
              <p:cNvSpPr/>
              <p:nvPr/>
            </p:nvSpPr>
            <p:spPr>
              <a:xfrm>
                <a:off x="6620258" y="1050444"/>
                <a:ext cx="102870" cy="103481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682" extrusionOk="0">
                    <a:moveTo>
                      <a:pt x="836" y="106"/>
                    </a:moveTo>
                    <a:cubicBezTo>
                      <a:pt x="1238" y="106"/>
                      <a:pt x="1566" y="434"/>
                      <a:pt x="1566" y="846"/>
                    </a:cubicBezTo>
                    <a:cubicBezTo>
                      <a:pt x="1566" y="1248"/>
                      <a:pt x="1238" y="1576"/>
                      <a:pt x="836" y="1576"/>
                    </a:cubicBezTo>
                    <a:cubicBezTo>
                      <a:pt x="434" y="1576"/>
                      <a:pt x="106" y="1248"/>
                      <a:pt x="106" y="846"/>
                    </a:cubicBezTo>
                    <a:cubicBezTo>
                      <a:pt x="106" y="434"/>
                      <a:pt x="434" y="106"/>
                      <a:pt x="836" y="106"/>
                    </a:cubicBezTo>
                    <a:close/>
                    <a:moveTo>
                      <a:pt x="836" y="0"/>
                    </a:moveTo>
                    <a:cubicBezTo>
                      <a:pt x="371" y="0"/>
                      <a:pt x="1" y="381"/>
                      <a:pt x="1" y="846"/>
                    </a:cubicBezTo>
                    <a:cubicBezTo>
                      <a:pt x="1" y="1301"/>
                      <a:pt x="371" y="1681"/>
                      <a:pt x="836" y="1681"/>
                    </a:cubicBezTo>
                    <a:cubicBezTo>
                      <a:pt x="1301" y="1681"/>
                      <a:pt x="1671" y="1301"/>
                      <a:pt x="1671" y="846"/>
                    </a:cubicBezTo>
                    <a:cubicBezTo>
                      <a:pt x="1671" y="381"/>
                      <a:pt x="1301" y="0"/>
                      <a:pt x="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</p:grpSp>
      <p:sp>
        <p:nvSpPr>
          <p:cNvPr id="85" name="Google Shape;85;p13"/>
          <p:cNvSpPr txBox="1"/>
          <p:nvPr>
            <p:ph type="title"/>
          </p:nvPr>
        </p:nvSpPr>
        <p:spPr>
          <a:xfrm>
            <a:off x="4760975" y="1587088"/>
            <a:ext cx="3555900" cy="9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>
                <a:highlight>
                  <a:srgbClr val="FFFFFF"/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type="subTitle" idx="1"/>
          </p:nvPr>
        </p:nvSpPr>
        <p:spPr>
          <a:xfrm>
            <a:off x="4760975" y="2569737"/>
            <a:ext cx="3555900" cy="8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cxnSp>
        <p:nvCxnSpPr>
          <p:cNvPr id="87" name="Google Shape;87;p13"/>
          <p:cNvCxnSpPr>
            <a:endCxn id="88" idx="1"/>
          </p:cNvCxnSpPr>
          <p:nvPr/>
        </p:nvCxnSpPr>
        <p:spPr>
          <a:xfrm>
            <a:off x="5797772" y="4719051"/>
            <a:ext cx="1267800" cy="0"/>
          </a:xfrm>
          <a:prstGeom prst="straightConnector1">
            <a:avLst/>
          </a:prstGeom>
          <a:noFill/>
          <a:ln w="28575" cap="flat" cmpd="sng">
            <a:solidFill>
              <a:srgbClr val="5ACB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9" name="Google Shape;89;p13"/>
          <p:cNvSpPr txBox="1"/>
          <p:nvPr/>
        </p:nvSpPr>
        <p:spPr>
          <a:xfrm>
            <a:off x="1005503" y="4503608"/>
            <a:ext cx="163140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7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This project has received funding from the European Union’s Horizon Europe research and innovation programme under grant agreement No 101189908.</a:t>
            </a:r>
            <a:endParaRPr lang="tr-TR" sz="7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90" name="Google Shape;90;p13" descr="flag_yellow_high.jp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13160" y="4512636"/>
            <a:ext cx="625040" cy="412832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7065572" y="4569010"/>
            <a:ext cx="163140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350" b="0" i="0" u="none" strike="noStrike" cap="none">
                <a:solidFill>
                  <a:srgbClr val="070E4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www.ai4sweng.eu</a:t>
            </a:r>
            <a:endParaRPr lang="tr-TR" sz="1350" b="0" i="0" u="none" strike="noStrike" cap="none">
              <a:solidFill>
                <a:srgbClr val="070E4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91" name="Google Shape;91;p13" descr="A black background with a black square&#10;&#10;AI-generated content may be incorrect.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636906" y="4475919"/>
            <a:ext cx="3064642" cy="551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A black and grey pattern&#10;&#10;Yapay zeka tarafından oluşturulan içerik yanlış olabilir."/>
          <p:cNvPicPr preferRelativeResize="0"/>
          <p:nvPr/>
        </p:nvPicPr>
        <p:blipFill rotWithShape="1">
          <a:blip r:embed="rId2">
            <a:alphaModFix amt="70000"/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chemeClr val="accent6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95" name="Google Shape;95;p14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36300" y="274408"/>
            <a:ext cx="548657" cy="40070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>
            <p:ph type="subTitle" idx="1"/>
          </p:nvPr>
        </p:nvSpPr>
        <p:spPr>
          <a:xfrm>
            <a:off x="4741626" y="2106138"/>
            <a:ext cx="3507600" cy="16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/>
        </p:txBody>
      </p:sp>
      <p:sp>
        <p:nvSpPr>
          <p:cNvPr id="97" name="Google Shape;97;p14"/>
          <p:cNvSpPr txBox="1"/>
          <p:nvPr>
            <p:ph type="title"/>
          </p:nvPr>
        </p:nvSpPr>
        <p:spPr>
          <a:xfrm>
            <a:off x="4741733" y="1480088"/>
            <a:ext cx="3507600" cy="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lanquin Dark" panose="020B0004020203020204"/>
              <a:buNone/>
              <a:defRPr>
                <a:latin typeface="Palanquin Dark" panose="020B0004020203020204"/>
                <a:ea typeface="Palanquin Dark" panose="020B0004020203020204"/>
                <a:cs typeface="Palanquin Dark" panose="020B0004020203020204"/>
                <a:sym typeface="Palanquin Dark" panose="020B0004020203020204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lanquin Dark" panose="020B0004020203020204"/>
              <a:buNone/>
              <a:defRPr>
                <a:latin typeface="Palanquin Dark" panose="020B0004020203020204"/>
                <a:ea typeface="Palanquin Dark" panose="020B0004020203020204"/>
                <a:cs typeface="Palanquin Dark" panose="020B0004020203020204"/>
                <a:sym typeface="Palanquin Dark" panose="020B0004020203020204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lanquin Dark" panose="020B0004020203020204"/>
              <a:buNone/>
              <a:defRPr>
                <a:latin typeface="Palanquin Dark" panose="020B0004020203020204"/>
                <a:ea typeface="Palanquin Dark" panose="020B0004020203020204"/>
                <a:cs typeface="Palanquin Dark" panose="020B0004020203020204"/>
                <a:sym typeface="Palanquin Dark" panose="020B0004020203020204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lanquin Dark" panose="020B0004020203020204"/>
              <a:buNone/>
              <a:defRPr>
                <a:latin typeface="Palanquin Dark" panose="020B0004020203020204"/>
                <a:ea typeface="Palanquin Dark" panose="020B0004020203020204"/>
                <a:cs typeface="Palanquin Dark" panose="020B0004020203020204"/>
                <a:sym typeface="Palanquin Dark" panose="020B0004020203020204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lanquin Dark" panose="020B0004020203020204"/>
              <a:buNone/>
              <a:defRPr>
                <a:latin typeface="Palanquin Dark" panose="020B0004020203020204"/>
                <a:ea typeface="Palanquin Dark" panose="020B0004020203020204"/>
                <a:cs typeface="Palanquin Dark" panose="020B0004020203020204"/>
                <a:sym typeface="Palanquin Dark" panose="020B0004020203020204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lanquin Dark" panose="020B0004020203020204"/>
              <a:buNone/>
              <a:defRPr>
                <a:latin typeface="Palanquin Dark" panose="020B0004020203020204"/>
                <a:ea typeface="Palanquin Dark" panose="020B0004020203020204"/>
                <a:cs typeface="Palanquin Dark" panose="020B0004020203020204"/>
                <a:sym typeface="Palanquin Dark" panose="020B0004020203020204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lanquin Dark" panose="020B0004020203020204"/>
              <a:buNone/>
              <a:defRPr>
                <a:latin typeface="Palanquin Dark" panose="020B0004020203020204"/>
                <a:ea typeface="Palanquin Dark" panose="020B0004020203020204"/>
                <a:cs typeface="Palanquin Dark" panose="020B0004020203020204"/>
                <a:sym typeface="Palanquin Dark" panose="020B0004020203020204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lanquin Dark" panose="020B0004020203020204"/>
              <a:buNone/>
              <a:defRPr>
                <a:latin typeface="Palanquin Dark" panose="020B0004020203020204"/>
                <a:ea typeface="Palanquin Dark" panose="020B0004020203020204"/>
                <a:cs typeface="Palanquin Dark" panose="020B0004020203020204"/>
                <a:sym typeface="Palanquin Dark" panose="020B0004020203020204"/>
              </a:defRPr>
            </a:lvl9pPr>
          </a:lstStyle>
          <a:p/>
        </p:txBody>
      </p:sp>
      <p:cxnSp>
        <p:nvCxnSpPr>
          <p:cNvPr id="98" name="Google Shape;98;p14"/>
          <p:cNvCxnSpPr>
            <a:endCxn id="99" idx="1"/>
          </p:cNvCxnSpPr>
          <p:nvPr/>
        </p:nvCxnSpPr>
        <p:spPr>
          <a:xfrm>
            <a:off x="5797772" y="4719051"/>
            <a:ext cx="1267800" cy="0"/>
          </a:xfrm>
          <a:prstGeom prst="straightConnector1">
            <a:avLst/>
          </a:prstGeom>
          <a:noFill/>
          <a:ln w="28575" cap="flat" cmpd="sng">
            <a:solidFill>
              <a:srgbClr val="5ACB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0" name="Google Shape;100;p14"/>
          <p:cNvSpPr txBox="1"/>
          <p:nvPr/>
        </p:nvSpPr>
        <p:spPr>
          <a:xfrm>
            <a:off x="1005503" y="4503608"/>
            <a:ext cx="163140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7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This project has received funding from the European Union’s Horizon Europe research and innovation programme under grant agreement No 101189908.</a:t>
            </a:r>
            <a:endParaRPr lang="tr-TR" sz="7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01" name="Google Shape;101;p14" descr="flag_yellow_high.jp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13160" y="4512636"/>
            <a:ext cx="625040" cy="412832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7065572" y="4569010"/>
            <a:ext cx="163140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350" b="0" i="0" u="none" strike="noStrike" cap="none">
                <a:solidFill>
                  <a:srgbClr val="070E4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www.ai4sweng.eu</a:t>
            </a:r>
            <a:endParaRPr lang="tr-TR" sz="1350" b="0" i="0" u="none" strike="noStrike" cap="none">
              <a:solidFill>
                <a:srgbClr val="070E4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02" name="Google Shape;102;p14" descr="A black background with a black square&#10;&#10;AI-generated content may be incorrect.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636906" y="4475919"/>
            <a:ext cx="3064642" cy="551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noFill/>
        <a:effectLst/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5" descr="A black and grey pattern&#10;&#10;Yapay zeka tarafından oluşturulan içerik yanlış olabilir."/>
          <p:cNvPicPr preferRelativeResize="0"/>
          <p:nvPr/>
        </p:nvPicPr>
        <p:blipFill rotWithShape="1">
          <a:blip r:embed="rId2">
            <a:alphaModFix amt="70000"/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chemeClr val="accent6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06" name="Google Shape;106;p15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36300" y="274408"/>
            <a:ext cx="548657" cy="40070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" name="Google Shape;107;p15"/>
          <p:cNvCxnSpPr>
            <a:endCxn id="108" idx="1"/>
          </p:cNvCxnSpPr>
          <p:nvPr/>
        </p:nvCxnSpPr>
        <p:spPr>
          <a:xfrm>
            <a:off x="5797772" y="4719051"/>
            <a:ext cx="1267800" cy="0"/>
          </a:xfrm>
          <a:prstGeom prst="straightConnector1">
            <a:avLst/>
          </a:prstGeom>
          <a:noFill/>
          <a:ln w="28575" cap="flat" cmpd="sng">
            <a:solidFill>
              <a:srgbClr val="5ACB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9" name="Google Shape;109;p15"/>
          <p:cNvSpPr txBox="1"/>
          <p:nvPr/>
        </p:nvSpPr>
        <p:spPr>
          <a:xfrm>
            <a:off x="1005503" y="4503608"/>
            <a:ext cx="163140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7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This project has received funding from the European Union’s Horizon Europe research and innovation programme under grant agreement No 101189908.</a:t>
            </a:r>
            <a:endParaRPr lang="tr-TR" sz="7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10" name="Google Shape;110;p15" descr="flag_yellow_high.jp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13160" y="4512636"/>
            <a:ext cx="625040" cy="412832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7065572" y="4569010"/>
            <a:ext cx="163140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350" b="0" i="0" u="none" strike="noStrike" cap="none">
                <a:solidFill>
                  <a:srgbClr val="070E4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www.ai4sweng.eu</a:t>
            </a:r>
            <a:endParaRPr lang="tr-TR" sz="1350" b="0" i="0" u="none" strike="noStrike" cap="none">
              <a:solidFill>
                <a:srgbClr val="070E4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11" name="Google Shape;111;p15" descr="A black background with a black square&#10;&#10;AI-generated content may be incorrect.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636906" y="4475919"/>
            <a:ext cx="3064642" cy="551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6" descr="A black and grey pattern&#10;&#10;Yapay zeka tarafından oluşturulan içerik yanlış olabilir."/>
          <p:cNvPicPr preferRelativeResize="0"/>
          <p:nvPr/>
        </p:nvPicPr>
        <p:blipFill rotWithShape="1">
          <a:blip r:embed="rId2">
            <a:alphaModFix amt="70000"/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36300" y="274408"/>
            <a:ext cx="548657" cy="40070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" name="Google Shape;116;p16"/>
          <p:cNvSpPr txBox="1"/>
          <p:nvPr>
            <p:ph type="body" idx="1"/>
          </p:nvPr>
        </p:nvSpPr>
        <p:spPr>
          <a:xfrm>
            <a:off x="720000" y="1149037"/>
            <a:ext cx="2478300" cy="3044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9pPr>
          </a:lstStyle>
          <a:p/>
        </p:txBody>
      </p:sp>
      <p:sp>
        <p:nvSpPr>
          <p:cNvPr id="117" name="Google Shape;117;p16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chemeClr val="accent6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1005503" y="4503608"/>
            <a:ext cx="163140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7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This project has received funding from the European Union’s Horizon Europe research and innovation programme under grant agreement No 101189908.</a:t>
            </a:r>
            <a:endParaRPr lang="tr-TR" sz="7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19" name="Google Shape;119;p16"/>
          <p:cNvCxnSpPr>
            <a:endCxn id="120" idx="1"/>
          </p:cNvCxnSpPr>
          <p:nvPr/>
        </p:nvCxnSpPr>
        <p:spPr>
          <a:xfrm>
            <a:off x="5797772" y="4719051"/>
            <a:ext cx="1267800" cy="0"/>
          </a:xfrm>
          <a:prstGeom prst="straightConnector1">
            <a:avLst/>
          </a:prstGeom>
          <a:noFill/>
          <a:ln w="28575" cap="flat" cmpd="sng">
            <a:solidFill>
              <a:srgbClr val="5ACBE5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1" name="Google Shape;121;p16" descr="flag_yellow_high.jp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13160" y="4512636"/>
            <a:ext cx="625040" cy="41283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7065572" y="4569010"/>
            <a:ext cx="163140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350" b="0" i="0" u="none" strike="noStrike" cap="none">
                <a:solidFill>
                  <a:srgbClr val="070E4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www.ai4sweng.eu</a:t>
            </a:r>
            <a:endParaRPr lang="tr-TR" sz="1350" b="0" i="0" u="none" strike="noStrike" cap="none">
              <a:solidFill>
                <a:srgbClr val="070E4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22" name="Google Shape;122;p16" descr="A black background with a black square&#10;&#10;AI-generated content may be incorrect.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636906" y="4475919"/>
            <a:ext cx="3064642" cy="551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7" descr="A black and grey pattern&#10;&#10;Yapay zeka tarafından oluşturulan içerik yanlış olabilir."/>
          <p:cNvPicPr preferRelativeResize="0"/>
          <p:nvPr/>
        </p:nvPicPr>
        <p:blipFill rotWithShape="1">
          <a:blip r:embed="rId2">
            <a:alphaModFix amt="70000"/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chemeClr val="accent6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36300" y="274408"/>
            <a:ext cx="548657" cy="40070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8" name="Google Shape;128;p17"/>
          <p:cNvCxnSpPr>
            <a:endCxn id="129" idx="1"/>
          </p:cNvCxnSpPr>
          <p:nvPr/>
        </p:nvCxnSpPr>
        <p:spPr>
          <a:xfrm>
            <a:off x="5797772" y="4719051"/>
            <a:ext cx="1267800" cy="0"/>
          </a:xfrm>
          <a:prstGeom prst="straightConnector1">
            <a:avLst/>
          </a:prstGeom>
          <a:noFill/>
          <a:ln w="28575" cap="flat" cmpd="sng">
            <a:solidFill>
              <a:srgbClr val="5ACB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0" name="Google Shape;130;p17"/>
          <p:cNvSpPr txBox="1"/>
          <p:nvPr/>
        </p:nvSpPr>
        <p:spPr>
          <a:xfrm>
            <a:off x="1005503" y="4503608"/>
            <a:ext cx="163140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7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This project has received funding from the European Union’s Horizon Europe research and innovation programme under grant agreement No 101189908.</a:t>
            </a:r>
            <a:endParaRPr lang="tr-TR" sz="7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31" name="Google Shape;131;p17" descr="flag_yellow_high.jp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13160" y="4512636"/>
            <a:ext cx="625040" cy="41283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7065572" y="4569010"/>
            <a:ext cx="163140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350" b="0" i="0" u="none" strike="noStrike" cap="none">
                <a:solidFill>
                  <a:srgbClr val="070E4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www.ai4sweng.eu</a:t>
            </a:r>
            <a:endParaRPr lang="tr-TR" sz="1350" b="0" i="0" u="none" strike="noStrike" cap="none">
              <a:solidFill>
                <a:srgbClr val="070E4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32" name="Google Shape;132;p17" descr="A black background with a black square&#10;&#10;AI-generated content may be incorrect.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636906" y="4475919"/>
            <a:ext cx="3064642" cy="551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8" descr="A black and grey pattern&#10;&#10;Yapay zeka tarafından oluşturulan içerik yanlış olabilir."/>
          <p:cNvPicPr preferRelativeResize="0"/>
          <p:nvPr/>
        </p:nvPicPr>
        <p:blipFill rotWithShape="1">
          <a:blip r:embed="rId2">
            <a:alphaModFix amt="70000"/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8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chemeClr val="accent6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6" name="Google Shape;136;p18"/>
          <p:cNvSpPr txBox="1"/>
          <p:nvPr>
            <p:ph type="body" idx="1"/>
          </p:nvPr>
        </p:nvSpPr>
        <p:spPr>
          <a:xfrm>
            <a:off x="720000" y="1401575"/>
            <a:ext cx="6411004" cy="2740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1600"/>
            </a:lvl2pPr>
            <a:lvl3pPr marL="137160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/>
        </p:txBody>
      </p:sp>
      <p:sp>
        <p:nvSpPr>
          <p:cNvPr id="137" name="Google Shape;137;p18"/>
          <p:cNvSpPr txBox="1"/>
          <p:nvPr>
            <p:ph type="title"/>
          </p:nvPr>
        </p:nvSpPr>
        <p:spPr>
          <a:xfrm>
            <a:off x="720000" y="387600"/>
            <a:ext cx="6411004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38" name="Google Shape;138;p18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36300" y="274408"/>
            <a:ext cx="548657" cy="40070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9" name="Google Shape;139;p18"/>
          <p:cNvCxnSpPr>
            <a:endCxn id="140" idx="1"/>
          </p:cNvCxnSpPr>
          <p:nvPr/>
        </p:nvCxnSpPr>
        <p:spPr>
          <a:xfrm>
            <a:off x="5797772" y="4719051"/>
            <a:ext cx="1267800" cy="0"/>
          </a:xfrm>
          <a:prstGeom prst="straightConnector1">
            <a:avLst/>
          </a:prstGeom>
          <a:noFill/>
          <a:ln w="28575" cap="flat" cmpd="sng">
            <a:solidFill>
              <a:srgbClr val="5ACB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1" name="Google Shape;141;p18"/>
          <p:cNvSpPr txBox="1"/>
          <p:nvPr/>
        </p:nvSpPr>
        <p:spPr>
          <a:xfrm>
            <a:off x="1005503" y="4503608"/>
            <a:ext cx="163140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7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This project has received funding from the European Union’s Horizon Europe research and innovation programme under grant agreement No 101189908.</a:t>
            </a:r>
            <a:endParaRPr lang="tr-TR" sz="7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42" name="Google Shape;142;p18" descr="flag_yellow_high.jp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13160" y="4512636"/>
            <a:ext cx="625040" cy="412832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8"/>
          <p:cNvSpPr txBox="1"/>
          <p:nvPr/>
        </p:nvSpPr>
        <p:spPr>
          <a:xfrm>
            <a:off x="7065572" y="4569010"/>
            <a:ext cx="163140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350" b="0" i="0" u="none" strike="noStrike" cap="none">
                <a:solidFill>
                  <a:srgbClr val="070E4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www.ai4sweng.eu</a:t>
            </a:r>
            <a:endParaRPr lang="tr-TR" sz="1350" b="0" i="0" u="none" strike="noStrike" cap="none">
              <a:solidFill>
                <a:srgbClr val="070E4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43" name="Google Shape;143;p18" descr="A black background with a black square&#10;&#10;AI-generated content may be incorrect.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636906" y="4475919"/>
            <a:ext cx="3064642" cy="551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1_Main poin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 descr="A black and grey pattern&#10;&#10;Yapay zeka tarafından oluşturulan içerik yanlış olabilir."/>
          <p:cNvPicPr preferRelativeResize="0"/>
          <p:nvPr/>
        </p:nvPicPr>
        <p:blipFill rotWithShape="1">
          <a:blip r:embed="rId2">
            <a:alphaModFix amt="70000"/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chemeClr val="accent6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>
            <a:off x="1714950" y="1460850"/>
            <a:ext cx="5714100" cy="22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36300" y="274408"/>
            <a:ext cx="548657" cy="40070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9" name="Google Shape;149;p19"/>
          <p:cNvCxnSpPr>
            <a:endCxn id="150" idx="1"/>
          </p:cNvCxnSpPr>
          <p:nvPr/>
        </p:nvCxnSpPr>
        <p:spPr>
          <a:xfrm>
            <a:off x="5797772" y="4719051"/>
            <a:ext cx="1267800" cy="0"/>
          </a:xfrm>
          <a:prstGeom prst="straightConnector1">
            <a:avLst/>
          </a:prstGeom>
          <a:noFill/>
          <a:ln w="28575" cap="flat" cmpd="sng">
            <a:solidFill>
              <a:srgbClr val="5ACB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1" name="Google Shape;151;p19"/>
          <p:cNvSpPr txBox="1"/>
          <p:nvPr/>
        </p:nvSpPr>
        <p:spPr>
          <a:xfrm>
            <a:off x="1005503" y="4503608"/>
            <a:ext cx="163140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7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This project has received funding from the European Union’s Horizon Europe research and innovation programme under grant agreement No 101189908.</a:t>
            </a:r>
            <a:endParaRPr lang="tr-TR" sz="7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52" name="Google Shape;152;p19" descr="flag_yellow_high.jp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13160" y="4512636"/>
            <a:ext cx="625040" cy="41283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 txBox="1"/>
          <p:nvPr/>
        </p:nvSpPr>
        <p:spPr>
          <a:xfrm>
            <a:off x="7065572" y="4569010"/>
            <a:ext cx="163140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350" b="0" i="0" u="none" strike="noStrike" cap="none">
                <a:solidFill>
                  <a:srgbClr val="070E4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www.ai4sweng.eu</a:t>
            </a:r>
            <a:endParaRPr lang="tr-TR" sz="1350" b="0" i="0" u="none" strike="noStrike" cap="none">
              <a:solidFill>
                <a:srgbClr val="070E4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53" name="Google Shape;153;p19" descr="A black background with a black square&#10;&#10;AI-generated content may be incorrect.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636906" y="4475919"/>
            <a:ext cx="3064642" cy="551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1_Section title and description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0" descr="A black and grey pattern&#10;&#10;Yapay zeka tarafından oluşturulan içerik yanlış olabilir."/>
          <p:cNvPicPr preferRelativeResize="0"/>
          <p:nvPr/>
        </p:nvPicPr>
        <p:blipFill rotWithShape="1">
          <a:blip r:embed="rId2">
            <a:alphaModFix amt="70000"/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0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chemeClr val="accent6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7" name="Google Shape;157;p20"/>
          <p:cNvSpPr txBox="1"/>
          <p:nvPr>
            <p:ph type="subTitle" idx="1"/>
          </p:nvPr>
        </p:nvSpPr>
        <p:spPr>
          <a:xfrm>
            <a:off x="4741626" y="2106138"/>
            <a:ext cx="3507600" cy="16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/>
        </p:txBody>
      </p:sp>
      <p:sp>
        <p:nvSpPr>
          <p:cNvPr id="158" name="Google Shape;158;p20"/>
          <p:cNvSpPr txBox="1"/>
          <p:nvPr>
            <p:ph type="title"/>
          </p:nvPr>
        </p:nvSpPr>
        <p:spPr>
          <a:xfrm>
            <a:off x="4741733" y="1480088"/>
            <a:ext cx="3507600" cy="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lanquin Dark" panose="020B0004020203020204"/>
              <a:buNone/>
              <a:defRPr>
                <a:latin typeface="Palanquin Dark" panose="020B0004020203020204"/>
                <a:ea typeface="Palanquin Dark" panose="020B0004020203020204"/>
                <a:cs typeface="Palanquin Dark" panose="020B0004020203020204"/>
                <a:sym typeface="Palanquin Dark" panose="020B0004020203020204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lanquin Dark" panose="020B0004020203020204"/>
              <a:buNone/>
              <a:defRPr>
                <a:latin typeface="Palanquin Dark" panose="020B0004020203020204"/>
                <a:ea typeface="Palanquin Dark" panose="020B0004020203020204"/>
                <a:cs typeface="Palanquin Dark" panose="020B0004020203020204"/>
                <a:sym typeface="Palanquin Dark" panose="020B0004020203020204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lanquin Dark" panose="020B0004020203020204"/>
              <a:buNone/>
              <a:defRPr>
                <a:latin typeface="Palanquin Dark" panose="020B0004020203020204"/>
                <a:ea typeface="Palanquin Dark" panose="020B0004020203020204"/>
                <a:cs typeface="Palanquin Dark" panose="020B0004020203020204"/>
                <a:sym typeface="Palanquin Dark" panose="020B0004020203020204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lanquin Dark" panose="020B0004020203020204"/>
              <a:buNone/>
              <a:defRPr>
                <a:latin typeface="Palanquin Dark" panose="020B0004020203020204"/>
                <a:ea typeface="Palanquin Dark" panose="020B0004020203020204"/>
                <a:cs typeface="Palanquin Dark" panose="020B0004020203020204"/>
                <a:sym typeface="Palanquin Dark" panose="020B0004020203020204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lanquin Dark" panose="020B0004020203020204"/>
              <a:buNone/>
              <a:defRPr>
                <a:latin typeface="Palanquin Dark" panose="020B0004020203020204"/>
                <a:ea typeface="Palanquin Dark" panose="020B0004020203020204"/>
                <a:cs typeface="Palanquin Dark" panose="020B0004020203020204"/>
                <a:sym typeface="Palanquin Dark" panose="020B0004020203020204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lanquin Dark" panose="020B0004020203020204"/>
              <a:buNone/>
              <a:defRPr>
                <a:latin typeface="Palanquin Dark" panose="020B0004020203020204"/>
                <a:ea typeface="Palanquin Dark" panose="020B0004020203020204"/>
                <a:cs typeface="Palanquin Dark" panose="020B0004020203020204"/>
                <a:sym typeface="Palanquin Dark" panose="020B0004020203020204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lanquin Dark" panose="020B0004020203020204"/>
              <a:buNone/>
              <a:defRPr>
                <a:latin typeface="Palanquin Dark" panose="020B0004020203020204"/>
                <a:ea typeface="Palanquin Dark" panose="020B0004020203020204"/>
                <a:cs typeface="Palanquin Dark" panose="020B0004020203020204"/>
                <a:sym typeface="Palanquin Dark" panose="020B0004020203020204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lanquin Dark" panose="020B0004020203020204"/>
              <a:buNone/>
              <a:defRPr>
                <a:latin typeface="Palanquin Dark" panose="020B0004020203020204"/>
                <a:ea typeface="Palanquin Dark" panose="020B0004020203020204"/>
                <a:cs typeface="Palanquin Dark" panose="020B0004020203020204"/>
                <a:sym typeface="Palanquin Dark" panose="020B0004020203020204"/>
              </a:defRPr>
            </a:lvl9pPr>
          </a:lstStyle>
          <a:p/>
        </p:txBody>
      </p:sp>
      <p:pic>
        <p:nvPicPr>
          <p:cNvPr id="159" name="Google Shape;159;p20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36300" y="274408"/>
            <a:ext cx="548657" cy="40070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20"/>
          <p:cNvCxnSpPr>
            <a:endCxn id="161" idx="1"/>
          </p:cNvCxnSpPr>
          <p:nvPr/>
        </p:nvCxnSpPr>
        <p:spPr>
          <a:xfrm>
            <a:off x="5797772" y="4719051"/>
            <a:ext cx="1267800" cy="0"/>
          </a:xfrm>
          <a:prstGeom prst="straightConnector1">
            <a:avLst/>
          </a:prstGeom>
          <a:noFill/>
          <a:ln w="28575" cap="flat" cmpd="sng">
            <a:solidFill>
              <a:srgbClr val="5ACB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2" name="Google Shape;162;p20"/>
          <p:cNvSpPr txBox="1"/>
          <p:nvPr/>
        </p:nvSpPr>
        <p:spPr>
          <a:xfrm>
            <a:off x="1005503" y="4503608"/>
            <a:ext cx="163140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7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This project has received funding from the European Union’s Horizon Europe research and innovation programme under grant agreement No 101189908.</a:t>
            </a:r>
            <a:endParaRPr lang="tr-TR" sz="7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63" name="Google Shape;163;p20" descr="flag_yellow_high.jp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13160" y="4512636"/>
            <a:ext cx="625040" cy="41283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0"/>
          <p:cNvSpPr txBox="1"/>
          <p:nvPr/>
        </p:nvSpPr>
        <p:spPr>
          <a:xfrm>
            <a:off x="7065572" y="4569010"/>
            <a:ext cx="163140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350" b="0" i="0" u="none" strike="noStrike" cap="none">
                <a:solidFill>
                  <a:srgbClr val="070E4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www.ai4sweng.eu</a:t>
            </a:r>
            <a:endParaRPr lang="tr-TR" sz="1350" b="0" i="0" u="none" strike="noStrike" cap="none">
              <a:solidFill>
                <a:srgbClr val="070E4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64" name="Google Shape;164;p20" descr="A black background with a black square&#10;&#10;AI-generated content may be incorrect.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636906" y="4475919"/>
            <a:ext cx="3064642" cy="551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1" descr="A black and grey pattern&#10;&#10;Yapay zeka tarafından oluşturulan içerik yanlış olabilir."/>
          <p:cNvPicPr preferRelativeResize="0"/>
          <p:nvPr/>
        </p:nvPicPr>
        <p:blipFill rotWithShape="1">
          <a:blip r:embed="rId2">
            <a:alphaModFix amt="70000"/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1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chemeClr val="accent6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8" name="Google Shape;168;p21"/>
          <p:cNvSpPr/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21"/>
          <p:cNvSpPr txBox="1"/>
          <p:nvPr>
            <p:ph type="title"/>
          </p:nvPr>
        </p:nvSpPr>
        <p:spPr>
          <a:xfrm>
            <a:off x="720000" y="387600"/>
            <a:ext cx="4726800" cy="14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redoka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"/>
              <a:buNone/>
              <a:defRPr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"/>
              <a:buNone/>
              <a:defRPr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"/>
              <a:buNone/>
              <a:defRPr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"/>
              <a:buNone/>
              <a:defRPr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"/>
              <a:buNone/>
              <a:defRPr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"/>
              <a:buNone/>
              <a:defRPr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"/>
              <a:buNone/>
              <a:defRPr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"/>
              <a:buNone/>
              <a:defRPr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  <p:pic>
        <p:nvPicPr>
          <p:cNvPr id="170" name="Google Shape;170;p2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36300" y="274408"/>
            <a:ext cx="548657" cy="40070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21"/>
          <p:cNvCxnSpPr>
            <a:endCxn id="172" idx="1"/>
          </p:cNvCxnSpPr>
          <p:nvPr/>
        </p:nvCxnSpPr>
        <p:spPr>
          <a:xfrm>
            <a:off x="5797772" y="4719051"/>
            <a:ext cx="1267800" cy="0"/>
          </a:xfrm>
          <a:prstGeom prst="straightConnector1">
            <a:avLst/>
          </a:prstGeom>
          <a:noFill/>
          <a:ln w="28575" cap="flat" cmpd="sng">
            <a:solidFill>
              <a:srgbClr val="5ACB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3" name="Google Shape;173;p21"/>
          <p:cNvSpPr txBox="1"/>
          <p:nvPr/>
        </p:nvSpPr>
        <p:spPr>
          <a:xfrm>
            <a:off x="1005503" y="4503608"/>
            <a:ext cx="163140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7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This project has received funding from the European Union’s Horizon Europe research and innovation programme under grant agreement No 101189908.</a:t>
            </a:r>
            <a:endParaRPr lang="tr-TR" sz="7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74" name="Google Shape;174;p21" descr="flag_yellow_high.jp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13160" y="4512636"/>
            <a:ext cx="625040" cy="412832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1"/>
          <p:cNvSpPr txBox="1"/>
          <p:nvPr/>
        </p:nvSpPr>
        <p:spPr>
          <a:xfrm>
            <a:off x="7065572" y="4569010"/>
            <a:ext cx="163140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350" b="0" i="0" u="none" strike="noStrike" cap="none">
                <a:solidFill>
                  <a:srgbClr val="070E4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www.ai4sweng.eu</a:t>
            </a:r>
            <a:endParaRPr lang="tr-TR" sz="1350" b="0" i="0" u="none" strike="noStrike" cap="none">
              <a:solidFill>
                <a:srgbClr val="070E4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75" name="Google Shape;175;p21" descr="A black background with a black square&#10;&#10;AI-generated content may be incorrect.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636906" y="4475919"/>
            <a:ext cx="3064642" cy="551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2" descr="A black and grey pattern&#10;&#10;Yapay zeka tarafından oluşturulan içerik yanlış olabilir."/>
          <p:cNvPicPr preferRelativeResize="0"/>
          <p:nvPr/>
        </p:nvPicPr>
        <p:blipFill rotWithShape="1">
          <a:blip r:embed="rId2">
            <a:alphaModFix amt="70000"/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2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chemeClr val="accent6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9" name="Google Shape;179;p22"/>
          <p:cNvSpPr txBox="1"/>
          <p:nvPr>
            <p:ph type="title"/>
          </p:nvPr>
        </p:nvSpPr>
        <p:spPr>
          <a:xfrm>
            <a:off x="722299" y="1716600"/>
            <a:ext cx="3849600" cy="12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80" name="Google Shape;180;p22"/>
          <p:cNvSpPr txBox="1"/>
          <p:nvPr>
            <p:ph type="subTitle" idx="1"/>
          </p:nvPr>
        </p:nvSpPr>
        <p:spPr>
          <a:xfrm flipH="1">
            <a:off x="722200" y="3089767"/>
            <a:ext cx="3096600" cy="5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9pPr>
          </a:lstStyle>
          <a:p/>
        </p:txBody>
      </p:sp>
      <p:sp>
        <p:nvSpPr>
          <p:cNvPr id="181" name="Google Shape;181;p22"/>
          <p:cNvSpPr/>
          <p:nvPr/>
        </p:nvSpPr>
        <p:spPr>
          <a:xfrm>
            <a:off x="-465550" y="-465525"/>
            <a:ext cx="931098" cy="931062"/>
          </a:xfrm>
          <a:custGeom>
            <a:avLst/>
            <a:gdLst/>
            <a:ahLst/>
            <a:cxnLst/>
            <a:rect l="l" t="t" r="r" b="b"/>
            <a:pathLst>
              <a:path w="14425" h="14425" fill="none" extrusionOk="0">
                <a:moveTo>
                  <a:pt x="11093" y="1777"/>
                </a:moveTo>
                <a:lnTo>
                  <a:pt x="10279" y="2570"/>
                </a:lnTo>
                <a:cubicBezTo>
                  <a:pt x="10247" y="2592"/>
                  <a:pt x="10226" y="2623"/>
                  <a:pt x="10205" y="2655"/>
                </a:cubicBezTo>
                <a:cubicBezTo>
                  <a:pt x="9666" y="2296"/>
                  <a:pt x="9073" y="2052"/>
                  <a:pt x="8460" y="1904"/>
                </a:cubicBezTo>
                <a:cubicBezTo>
                  <a:pt x="8471" y="1873"/>
                  <a:pt x="8481" y="1830"/>
                  <a:pt x="8481" y="1799"/>
                </a:cubicBezTo>
                <a:lnTo>
                  <a:pt x="8492" y="667"/>
                </a:lnTo>
                <a:cubicBezTo>
                  <a:pt x="8492" y="318"/>
                  <a:pt x="8206" y="22"/>
                  <a:pt x="7857" y="22"/>
                </a:cubicBezTo>
                <a:lnTo>
                  <a:pt x="6726" y="12"/>
                </a:lnTo>
                <a:cubicBezTo>
                  <a:pt x="6377" y="1"/>
                  <a:pt x="6081" y="286"/>
                  <a:pt x="6081" y="635"/>
                </a:cubicBezTo>
                <a:lnTo>
                  <a:pt x="6070" y="1767"/>
                </a:lnTo>
                <a:cubicBezTo>
                  <a:pt x="6070" y="1809"/>
                  <a:pt x="6070" y="1851"/>
                  <a:pt x="6081" y="1883"/>
                </a:cubicBezTo>
                <a:cubicBezTo>
                  <a:pt x="5478" y="2010"/>
                  <a:pt x="4897" y="2232"/>
                  <a:pt x="4368" y="2560"/>
                </a:cubicBezTo>
                <a:cubicBezTo>
                  <a:pt x="4347" y="2528"/>
                  <a:pt x="4326" y="2507"/>
                  <a:pt x="4294" y="2475"/>
                </a:cubicBezTo>
                <a:lnTo>
                  <a:pt x="3511" y="1672"/>
                </a:lnTo>
                <a:cubicBezTo>
                  <a:pt x="3268" y="1418"/>
                  <a:pt x="2856" y="1407"/>
                  <a:pt x="2602" y="1651"/>
                </a:cubicBezTo>
                <a:lnTo>
                  <a:pt x="1798" y="2444"/>
                </a:lnTo>
                <a:cubicBezTo>
                  <a:pt x="1545" y="2687"/>
                  <a:pt x="1534" y="3089"/>
                  <a:pt x="1777" y="3342"/>
                </a:cubicBezTo>
                <a:lnTo>
                  <a:pt x="2570" y="4157"/>
                </a:lnTo>
                <a:cubicBezTo>
                  <a:pt x="2591" y="4178"/>
                  <a:pt x="2623" y="4210"/>
                  <a:pt x="2655" y="4231"/>
                </a:cubicBezTo>
                <a:cubicBezTo>
                  <a:pt x="2295" y="4770"/>
                  <a:pt x="2052" y="5352"/>
                  <a:pt x="1904" y="5965"/>
                </a:cubicBezTo>
                <a:cubicBezTo>
                  <a:pt x="1872" y="5965"/>
                  <a:pt x="1830" y="5954"/>
                  <a:pt x="1798" y="5954"/>
                </a:cubicBezTo>
                <a:lnTo>
                  <a:pt x="667" y="5944"/>
                </a:lnTo>
                <a:cubicBezTo>
                  <a:pt x="498" y="5944"/>
                  <a:pt x="329" y="6007"/>
                  <a:pt x="212" y="6123"/>
                </a:cubicBezTo>
                <a:lnTo>
                  <a:pt x="212" y="6123"/>
                </a:lnTo>
                <a:cubicBezTo>
                  <a:pt x="85" y="6240"/>
                  <a:pt x="22" y="6398"/>
                  <a:pt x="22" y="6578"/>
                </a:cubicBezTo>
                <a:lnTo>
                  <a:pt x="1" y="7710"/>
                </a:lnTo>
                <a:lnTo>
                  <a:pt x="1" y="7710"/>
                </a:lnTo>
                <a:cubicBezTo>
                  <a:pt x="1" y="8059"/>
                  <a:pt x="286" y="8344"/>
                  <a:pt x="635" y="8355"/>
                </a:cubicBezTo>
                <a:lnTo>
                  <a:pt x="1767" y="8365"/>
                </a:lnTo>
                <a:cubicBezTo>
                  <a:pt x="1809" y="8365"/>
                  <a:pt x="1841" y="8355"/>
                  <a:pt x="1883" y="8355"/>
                </a:cubicBezTo>
                <a:cubicBezTo>
                  <a:pt x="2010" y="8947"/>
                  <a:pt x="2232" y="9528"/>
                  <a:pt x="2560" y="10068"/>
                </a:cubicBezTo>
                <a:cubicBezTo>
                  <a:pt x="2528" y="10089"/>
                  <a:pt x="2507" y="10110"/>
                  <a:pt x="2475" y="10131"/>
                </a:cubicBezTo>
                <a:lnTo>
                  <a:pt x="1661" y="10924"/>
                </a:lnTo>
                <a:cubicBezTo>
                  <a:pt x="1407" y="11167"/>
                  <a:pt x="1407" y="11569"/>
                  <a:pt x="1650" y="11823"/>
                </a:cubicBezTo>
                <a:lnTo>
                  <a:pt x="2433" y="12637"/>
                </a:lnTo>
                <a:cubicBezTo>
                  <a:pt x="2687" y="12891"/>
                  <a:pt x="3088" y="12891"/>
                  <a:pt x="3342" y="12648"/>
                </a:cubicBezTo>
                <a:lnTo>
                  <a:pt x="4156" y="11865"/>
                </a:lnTo>
                <a:cubicBezTo>
                  <a:pt x="4178" y="11834"/>
                  <a:pt x="4199" y="11812"/>
                  <a:pt x="4220" y="11781"/>
                </a:cubicBezTo>
                <a:cubicBezTo>
                  <a:pt x="4759" y="12130"/>
                  <a:pt x="5351" y="12383"/>
                  <a:pt x="5965" y="12521"/>
                </a:cubicBezTo>
                <a:cubicBezTo>
                  <a:pt x="5954" y="12563"/>
                  <a:pt x="5954" y="12595"/>
                  <a:pt x="5954" y="12637"/>
                </a:cubicBezTo>
                <a:lnTo>
                  <a:pt x="5943" y="13769"/>
                </a:lnTo>
                <a:cubicBezTo>
                  <a:pt x="5943" y="13938"/>
                  <a:pt x="6007" y="14096"/>
                  <a:pt x="6123" y="14223"/>
                </a:cubicBezTo>
                <a:cubicBezTo>
                  <a:pt x="6240" y="14340"/>
                  <a:pt x="6398" y="14414"/>
                  <a:pt x="6567" y="14414"/>
                </a:cubicBezTo>
                <a:lnTo>
                  <a:pt x="7699" y="14424"/>
                </a:lnTo>
                <a:lnTo>
                  <a:pt x="7699" y="14424"/>
                </a:lnTo>
                <a:cubicBezTo>
                  <a:pt x="7879" y="14424"/>
                  <a:pt x="8037" y="14361"/>
                  <a:pt x="8154" y="14245"/>
                </a:cubicBezTo>
                <a:cubicBezTo>
                  <a:pt x="8270" y="14128"/>
                  <a:pt x="8344" y="13970"/>
                  <a:pt x="8344" y="13790"/>
                </a:cubicBezTo>
                <a:lnTo>
                  <a:pt x="8365" y="12658"/>
                </a:lnTo>
                <a:cubicBezTo>
                  <a:pt x="8365" y="12627"/>
                  <a:pt x="8354" y="12584"/>
                  <a:pt x="8354" y="12553"/>
                </a:cubicBezTo>
                <a:cubicBezTo>
                  <a:pt x="8947" y="12426"/>
                  <a:pt x="9528" y="12193"/>
                  <a:pt x="10067" y="11865"/>
                </a:cubicBezTo>
                <a:cubicBezTo>
                  <a:pt x="10078" y="11897"/>
                  <a:pt x="10110" y="11929"/>
                  <a:pt x="10131" y="11950"/>
                </a:cubicBezTo>
                <a:lnTo>
                  <a:pt x="10924" y="12764"/>
                </a:lnTo>
                <a:cubicBezTo>
                  <a:pt x="11167" y="13018"/>
                  <a:pt x="11569" y="13028"/>
                  <a:pt x="11823" y="12785"/>
                </a:cubicBezTo>
                <a:lnTo>
                  <a:pt x="12637" y="11992"/>
                </a:lnTo>
                <a:cubicBezTo>
                  <a:pt x="12891" y="11749"/>
                  <a:pt x="12891" y="11347"/>
                  <a:pt x="12648" y="11093"/>
                </a:cubicBezTo>
                <a:lnTo>
                  <a:pt x="11865" y="10279"/>
                </a:lnTo>
                <a:cubicBezTo>
                  <a:pt x="11833" y="10247"/>
                  <a:pt x="11812" y="10226"/>
                  <a:pt x="11780" y="10205"/>
                </a:cubicBezTo>
                <a:cubicBezTo>
                  <a:pt x="12129" y="9666"/>
                  <a:pt x="12383" y="9074"/>
                  <a:pt x="12521" y="8460"/>
                </a:cubicBezTo>
                <a:cubicBezTo>
                  <a:pt x="12563" y="8471"/>
                  <a:pt x="12595" y="8482"/>
                  <a:pt x="12637" y="8482"/>
                </a:cubicBezTo>
                <a:lnTo>
                  <a:pt x="13768" y="8492"/>
                </a:lnTo>
                <a:cubicBezTo>
                  <a:pt x="13938" y="8492"/>
                  <a:pt x="14096" y="8418"/>
                  <a:pt x="14213" y="8312"/>
                </a:cubicBezTo>
                <a:cubicBezTo>
                  <a:pt x="14339" y="8196"/>
                  <a:pt x="14414" y="8037"/>
                  <a:pt x="14414" y="7858"/>
                </a:cubicBezTo>
                <a:lnTo>
                  <a:pt x="14424" y="6726"/>
                </a:lnTo>
                <a:cubicBezTo>
                  <a:pt x="14424" y="6377"/>
                  <a:pt x="14149" y="6092"/>
                  <a:pt x="13790" y="6081"/>
                </a:cubicBezTo>
                <a:lnTo>
                  <a:pt x="12658" y="6071"/>
                </a:lnTo>
                <a:cubicBezTo>
                  <a:pt x="12626" y="6071"/>
                  <a:pt x="12584" y="6071"/>
                  <a:pt x="12552" y="6081"/>
                </a:cubicBezTo>
                <a:cubicBezTo>
                  <a:pt x="12426" y="5478"/>
                  <a:pt x="12193" y="4907"/>
                  <a:pt x="11865" y="4368"/>
                </a:cubicBezTo>
                <a:cubicBezTo>
                  <a:pt x="11897" y="4347"/>
                  <a:pt x="11929" y="4326"/>
                  <a:pt x="11950" y="4294"/>
                </a:cubicBezTo>
                <a:lnTo>
                  <a:pt x="12764" y="3512"/>
                </a:lnTo>
                <a:cubicBezTo>
                  <a:pt x="13018" y="3268"/>
                  <a:pt x="13028" y="2856"/>
                  <a:pt x="12774" y="2602"/>
                </a:cubicBezTo>
                <a:lnTo>
                  <a:pt x="11992" y="1799"/>
                </a:lnTo>
                <a:cubicBezTo>
                  <a:pt x="11749" y="1545"/>
                  <a:pt x="11336" y="1534"/>
                  <a:pt x="11093" y="1777"/>
                </a:cubicBezTo>
                <a:close/>
                <a:moveTo>
                  <a:pt x="9296" y="9370"/>
                </a:moveTo>
                <a:cubicBezTo>
                  <a:pt x="8111" y="10522"/>
                  <a:pt x="6208" y="10491"/>
                  <a:pt x="5066" y="9306"/>
                </a:cubicBezTo>
                <a:cubicBezTo>
                  <a:pt x="3913" y="8111"/>
                  <a:pt x="3945" y="6208"/>
                  <a:pt x="5129" y="5066"/>
                </a:cubicBezTo>
                <a:cubicBezTo>
                  <a:pt x="6314" y="3913"/>
                  <a:pt x="8217" y="3945"/>
                  <a:pt x="9370" y="5129"/>
                </a:cubicBezTo>
                <a:cubicBezTo>
                  <a:pt x="10512" y="6314"/>
                  <a:pt x="10490" y="8217"/>
                  <a:pt x="9296" y="9370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0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82" name="Google Shape;182;p2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36300" y="274408"/>
            <a:ext cx="548657" cy="40070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3" name="Google Shape;183;p22"/>
          <p:cNvCxnSpPr>
            <a:endCxn id="184" idx="1"/>
          </p:cNvCxnSpPr>
          <p:nvPr/>
        </p:nvCxnSpPr>
        <p:spPr>
          <a:xfrm>
            <a:off x="5797772" y="4719051"/>
            <a:ext cx="1267800" cy="0"/>
          </a:xfrm>
          <a:prstGeom prst="straightConnector1">
            <a:avLst/>
          </a:prstGeom>
          <a:noFill/>
          <a:ln w="28575" cap="flat" cmpd="sng">
            <a:solidFill>
              <a:srgbClr val="5ACB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5" name="Google Shape;185;p22"/>
          <p:cNvSpPr txBox="1"/>
          <p:nvPr/>
        </p:nvSpPr>
        <p:spPr>
          <a:xfrm>
            <a:off x="1005503" y="4503608"/>
            <a:ext cx="163140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7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This project has received funding from the European Union’s Horizon Europe research and innovation programme under grant agreement No 101189908.</a:t>
            </a:r>
            <a:endParaRPr lang="tr-TR" sz="7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86" name="Google Shape;186;p22" descr="flag_yellow_high.jp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13160" y="4512636"/>
            <a:ext cx="625040" cy="412832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2"/>
          <p:cNvSpPr txBox="1"/>
          <p:nvPr/>
        </p:nvSpPr>
        <p:spPr>
          <a:xfrm>
            <a:off x="7065572" y="4569010"/>
            <a:ext cx="163140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350" b="0" i="0" u="none" strike="noStrike" cap="none">
                <a:solidFill>
                  <a:srgbClr val="070E4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www.ai4sweng.eu</a:t>
            </a:r>
            <a:endParaRPr lang="tr-TR" sz="1350" b="0" i="0" u="none" strike="noStrike" cap="none">
              <a:solidFill>
                <a:srgbClr val="070E4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87" name="Google Shape;187;p22" descr="A black background with a black square&#10;&#10;AI-generated content may be incorrect.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636906" y="4475919"/>
            <a:ext cx="3064642" cy="551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1_Blank">
    <p:bg>
      <p:bgPr>
        <a:noFill/>
        <a:effectLst/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3" descr="A black and grey pattern&#10;&#10;Yapay zeka tarafından oluşturulan içerik yanlış olabilir."/>
          <p:cNvPicPr preferRelativeResize="0"/>
          <p:nvPr/>
        </p:nvPicPr>
        <p:blipFill rotWithShape="1">
          <a:blip r:embed="rId2">
            <a:alphaModFix amt="70000"/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3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chemeClr val="accent6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91" name="Google Shape;191;p23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36300" y="274408"/>
            <a:ext cx="548657" cy="40070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23"/>
          <p:cNvCxnSpPr>
            <a:endCxn id="193" idx="1"/>
          </p:cNvCxnSpPr>
          <p:nvPr/>
        </p:nvCxnSpPr>
        <p:spPr>
          <a:xfrm>
            <a:off x="5797772" y="4719051"/>
            <a:ext cx="1267800" cy="0"/>
          </a:xfrm>
          <a:prstGeom prst="straightConnector1">
            <a:avLst/>
          </a:prstGeom>
          <a:noFill/>
          <a:ln w="28575" cap="flat" cmpd="sng">
            <a:solidFill>
              <a:srgbClr val="5ACB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4" name="Google Shape;194;p23"/>
          <p:cNvSpPr txBox="1"/>
          <p:nvPr/>
        </p:nvSpPr>
        <p:spPr>
          <a:xfrm>
            <a:off x="1005503" y="4503608"/>
            <a:ext cx="163140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7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This project has received funding from the European Union’s Horizon Europe research and innovation programme under grant agreement No 101189908.</a:t>
            </a:r>
            <a:endParaRPr lang="tr-TR" sz="7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95" name="Google Shape;195;p23" descr="flag_yellow_high.jp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13160" y="4512636"/>
            <a:ext cx="625040" cy="412832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3"/>
          <p:cNvSpPr txBox="1"/>
          <p:nvPr/>
        </p:nvSpPr>
        <p:spPr>
          <a:xfrm>
            <a:off x="7065572" y="4569010"/>
            <a:ext cx="163140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350" b="0" i="0" u="none" strike="noStrike" cap="none">
                <a:solidFill>
                  <a:srgbClr val="070E4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www.ai4sweng.eu</a:t>
            </a:r>
            <a:endParaRPr lang="tr-TR" sz="1350" b="0" i="0" u="none" strike="noStrike" cap="none">
              <a:solidFill>
                <a:srgbClr val="070E4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96" name="Google Shape;196;p23" descr="A black background with a black square&#10;&#10;AI-generated content may be incorrect.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636906" y="4475919"/>
            <a:ext cx="3064642" cy="551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1_Title and text 1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4" descr="A black and grey pattern&#10;&#10;Yapay zeka tarafından oluşturulan içerik yanlış olabilir."/>
          <p:cNvPicPr preferRelativeResize="0"/>
          <p:nvPr/>
        </p:nvPicPr>
        <p:blipFill rotWithShape="1">
          <a:blip r:embed="rId2">
            <a:alphaModFix amt="70000"/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4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chemeClr val="accent6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0" name="Google Shape;200;p24"/>
          <p:cNvSpPr txBox="1"/>
          <p:nvPr>
            <p:ph type="body" idx="1"/>
          </p:nvPr>
        </p:nvSpPr>
        <p:spPr>
          <a:xfrm>
            <a:off x="720000" y="1133407"/>
            <a:ext cx="3852000" cy="2791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1600"/>
            </a:lvl2pPr>
            <a:lvl3pPr marL="137160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/>
        </p:txBody>
      </p:sp>
      <p:sp>
        <p:nvSpPr>
          <p:cNvPr id="201" name="Google Shape;201;p24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2" name="Google Shape;202;p24"/>
          <p:cNvSpPr/>
          <p:nvPr>
            <p:ph type="pic" idx="2"/>
          </p:nvPr>
        </p:nvSpPr>
        <p:spPr>
          <a:xfrm>
            <a:off x="5282300" y="1138760"/>
            <a:ext cx="3054000" cy="3054600"/>
          </a:xfrm>
          <a:prstGeom prst="roundRect">
            <a:avLst>
              <a:gd name="adj" fmla="val 7563"/>
            </a:avLst>
          </a:prstGeom>
          <a:noFill/>
          <a:ln>
            <a:noFill/>
          </a:ln>
        </p:spPr>
      </p:sp>
      <p:pic>
        <p:nvPicPr>
          <p:cNvPr id="203" name="Google Shape;203;p24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36300" y="274408"/>
            <a:ext cx="548657" cy="40070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4" name="Google Shape;204;p24"/>
          <p:cNvCxnSpPr>
            <a:endCxn id="205" idx="1"/>
          </p:cNvCxnSpPr>
          <p:nvPr/>
        </p:nvCxnSpPr>
        <p:spPr>
          <a:xfrm>
            <a:off x="5797772" y="4719051"/>
            <a:ext cx="1267800" cy="0"/>
          </a:xfrm>
          <a:prstGeom prst="straightConnector1">
            <a:avLst/>
          </a:prstGeom>
          <a:noFill/>
          <a:ln w="28575" cap="flat" cmpd="sng">
            <a:solidFill>
              <a:srgbClr val="5ACB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6" name="Google Shape;206;p24"/>
          <p:cNvSpPr txBox="1"/>
          <p:nvPr/>
        </p:nvSpPr>
        <p:spPr>
          <a:xfrm>
            <a:off x="1005503" y="4503608"/>
            <a:ext cx="163140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7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This project has received funding from the European Union’s Horizon Europe research and innovation programme under grant agreement No 101189908.</a:t>
            </a:r>
            <a:endParaRPr lang="tr-TR" sz="7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07" name="Google Shape;207;p24" descr="flag_yellow_high.jp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13160" y="4512636"/>
            <a:ext cx="625040" cy="412832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4"/>
          <p:cNvSpPr txBox="1"/>
          <p:nvPr/>
        </p:nvSpPr>
        <p:spPr>
          <a:xfrm>
            <a:off x="7065572" y="4569010"/>
            <a:ext cx="163140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350" b="0" i="0" u="none" strike="noStrike" cap="none">
                <a:solidFill>
                  <a:srgbClr val="070E4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www.ai4sweng.eu</a:t>
            </a:r>
            <a:endParaRPr lang="tr-TR" sz="1350" b="0" i="0" u="none" strike="noStrike" cap="none">
              <a:solidFill>
                <a:srgbClr val="070E4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08" name="Google Shape;208;p24" descr="A black background with a black square&#10;&#10;AI-generated content may be incorrect.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636906" y="4475919"/>
            <a:ext cx="3064642" cy="551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5" descr="A black and grey pattern&#10;&#10;Yapay zeka tarafından oluşturulan içerik yanlış olabilir."/>
          <p:cNvPicPr preferRelativeResize="0"/>
          <p:nvPr/>
        </p:nvPicPr>
        <p:blipFill rotWithShape="1">
          <a:blip r:embed="rId2">
            <a:alphaModFix amt="70000"/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5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chemeClr val="accent6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12" name="Google Shape;212;p25"/>
          <p:cNvSpPr txBox="1"/>
          <p:nvPr>
            <p:ph type="subTitle" idx="1"/>
          </p:nvPr>
        </p:nvSpPr>
        <p:spPr>
          <a:xfrm>
            <a:off x="3750532" y="980650"/>
            <a:ext cx="46710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3" name="Google Shape;213;p25"/>
          <p:cNvSpPr txBox="1"/>
          <p:nvPr>
            <p:ph type="title"/>
          </p:nvPr>
        </p:nvSpPr>
        <p:spPr>
          <a:xfrm>
            <a:off x="3750375" y="387600"/>
            <a:ext cx="46710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214" name="Google Shape;214;p25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36300" y="274408"/>
            <a:ext cx="548657" cy="40070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5" name="Google Shape;215;p25"/>
          <p:cNvCxnSpPr>
            <a:endCxn id="216" idx="1"/>
          </p:cNvCxnSpPr>
          <p:nvPr/>
        </p:nvCxnSpPr>
        <p:spPr>
          <a:xfrm>
            <a:off x="5797772" y="4719051"/>
            <a:ext cx="1267800" cy="0"/>
          </a:xfrm>
          <a:prstGeom prst="straightConnector1">
            <a:avLst/>
          </a:prstGeom>
          <a:noFill/>
          <a:ln w="28575" cap="flat" cmpd="sng">
            <a:solidFill>
              <a:srgbClr val="5ACB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7" name="Google Shape;217;p25"/>
          <p:cNvSpPr txBox="1"/>
          <p:nvPr/>
        </p:nvSpPr>
        <p:spPr>
          <a:xfrm>
            <a:off x="1005503" y="4503608"/>
            <a:ext cx="163140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7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This project has received funding from the European Union’s Horizon Europe research and innovation programme under grant agreement No 101189908.</a:t>
            </a:r>
            <a:endParaRPr lang="tr-TR" sz="7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18" name="Google Shape;218;p25" descr="flag_yellow_high.jp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13160" y="4512636"/>
            <a:ext cx="625040" cy="41283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5"/>
          <p:cNvSpPr txBox="1"/>
          <p:nvPr/>
        </p:nvSpPr>
        <p:spPr>
          <a:xfrm>
            <a:off x="7065572" y="4569010"/>
            <a:ext cx="163140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350" b="0" i="0" u="none" strike="noStrike" cap="none">
                <a:solidFill>
                  <a:srgbClr val="070E4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www.ai4sweng.eu</a:t>
            </a:r>
            <a:endParaRPr lang="tr-TR" sz="1350" b="0" i="0" u="none" strike="noStrike" cap="none">
              <a:solidFill>
                <a:srgbClr val="070E4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19" name="Google Shape;219;p25" descr="A black background with a black square&#10;&#10;AI-generated content may be incorrect.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636906" y="4475919"/>
            <a:ext cx="3064642" cy="551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6" descr="A black and grey pattern&#10;&#10;Yapay zeka tarafından oluşturulan içerik yanlış olabilir."/>
          <p:cNvPicPr preferRelativeResize="0"/>
          <p:nvPr/>
        </p:nvPicPr>
        <p:blipFill rotWithShape="1">
          <a:blip r:embed="rId2">
            <a:alphaModFix amt="70000"/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6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chemeClr val="accent6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23" name="Google Shape;223;p26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36300" y="274408"/>
            <a:ext cx="548657" cy="40070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6"/>
          <p:cNvSpPr txBox="1"/>
          <p:nvPr>
            <p:ph type="subTitle" idx="1"/>
          </p:nvPr>
        </p:nvSpPr>
        <p:spPr>
          <a:xfrm>
            <a:off x="754529" y="3381695"/>
            <a:ext cx="4671000" cy="7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5" name="Google Shape;225;p26"/>
          <p:cNvSpPr txBox="1"/>
          <p:nvPr>
            <p:ph type="title"/>
          </p:nvPr>
        </p:nvSpPr>
        <p:spPr>
          <a:xfrm>
            <a:off x="754379" y="2788644"/>
            <a:ext cx="46710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26" name="Google Shape;226;p26"/>
          <p:cNvCxnSpPr>
            <a:endCxn id="227" idx="1"/>
          </p:cNvCxnSpPr>
          <p:nvPr/>
        </p:nvCxnSpPr>
        <p:spPr>
          <a:xfrm>
            <a:off x="5797772" y="4719051"/>
            <a:ext cx="1267800" cy="0"/>
          </a:xfrm>
          <a:prstGeom prst="straightConnector1">
            <a:avLst/>
          </a:prstGeom>
          <a:noFill/>
          <a:ln w="28575" cap="flat" cmpd="sng">
            <a:solidFill>
              <a:srgbClr val="5ACB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8" name="Google Shape;228;p26"/>
          <p:cNvSpPr txBox="1"/>
          <p:nvPr/>
        </p:nvSpPr>
        <p:spPr>
          <a:xfrm>
            <a:off x="1005503" y="4503608"/>
            <a:ext cx="163140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7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This project has received funding from the European Union’s Horizon Europe research and innovation programme under grant agreement No 101189908.</a:t>
            </a:r>
            <a:endParaRPr lang="tr-TR" sz="7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29" name="Google Shape;229;p26" descr="flag_yellow_high.jp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13160" y="4512636"/>
            <a:ext cx="625040" cy="412832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6"/>
          <p:cNvSpPr txBox="1"/>
          <p:nvPr/>
        </p:nvSpPr>
        <p:spPr>
          <a:xfrm>
            <a:off x="7065572" y="4569010"/>
            <a:ext cx="163140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350" b="0" i="0" u="none" strike="noStrike" cap="none">
                <a:solidFill>
                  <a:srgbClr val="070E4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www.ai4sweng.eu</a:t>
            </a:r>
            <a:endParaRPr lang="tr-TR" sz="1350" b="0" i="0" u="none" strike="noStrike" cap="none">
              <a:solidFill>
                <a:srgbClr val="070E4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30" name="Google Shape;230;p26" descr="A black background with a black square&#10;&#10;AI-generated content may be incorrect.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636906" y="4475919"/>
            <a:ext cx="3064642" cy="551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7" descr="A black and grey pattern&#10;&#10;Yapay zeka tarafından oluşturulan içerik yanlış olabilir."/>
          <p:cNvPicPr preferRelativeResize="0"/>
          <p:nvPr/>
        </p:nvPicPr>
        <p:blipFill rotWithShape="1">
          <a:blip r:embed="rId2">
            <a:alphaModFix amt="70000"/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7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chemeClr val="accent6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34" name="Google Shape;234;p2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36300" y="274408"/>
            <a:ext cx="548657" cy="40070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7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6" name="Google Shape;236;p27"/>
          <p:cNvSpPr txBox="1"/>
          <p:nvPr>
            <p:ph type="subTitle" idx="1"/>
          </p:nvPr>
        </p:nvSpPr>
        <p:spPr>
          <a:xfrm>
            <a:off x="1005503" y="1355451"/>
            <a:ext cx="32424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9pPr>
          </a:lstStyle>
          <a:p/>
        </p:txBody>
      </p:sp>
      <p:sp>
        <p:nvSpPr>
          <p:cNvPr id="237" name="Google Shape;237;p27"/>
          <p:cNvSpPr txBox="1"/>
          <p:nvPr>
            <p:ph type="subTitle" idx="2"/>
          </p:nvPr>
        </p:nvSpPr>
        <p:spPr>
          <a:xfrm>
            <a:off x="1005503" y="2136526"/>
            <a:ext cx="3242400" cy="13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8" name="Google Shape;238;p27"/>
          <p:cNvSpPr txBox="1"/>
          <p:nvPr>
            <p:ph type="subTitle" idx="3"/>
          </p:nvPr>
        </p:nvSpPr>
        <p:spPr>
          <a:xfrm>
            <a:off x="4868659" y="1355451"/>
            <a:ext cx="32424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9pPr>
          </a:lstStyle>
          <a:p/>
        </p:txBody>
      </p:sp>
      <p:sp>
        <p:nvSpPr>
          <p:cNvPr id="239" name="Google Shape;239;p27"/>
          <p:cNvSpPr txBox="1"/>
          <p:nvPr>
            <p:ph type="subTitle" idx="4"/>
          </p:nvPr>
        </p:nvSpPr>
        <p:spPr>
          <a:xfrm>
            <a:off x="4868659" y="2136526"/>
            <a:ext cx="3242400" cy="13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cxnSp>
        <p:nvCxnSpPr>
          <p:cNvPr id="240" name="Google Shape;240;p27"/>
          <p:cNvCxnSpPr>
            <a:endCxn id="241" idx="1"/>
          </p:cNvCxnSpPr>
          <p:nvPr/>
        </p:nvCxnSpPr>
        <p:spPr>
          <a:xfrm>
            <a:off x="5797772" y="4719051"/>
            <a:ext cx="1267800" cy="0"/>
          </a:xfrm>
          <a:prstGeom prst="straightConnector1">
            <a:avLst/>
          </a:prstGeom>
          <a:noFill/>
          <a:ln w="28575" cap="flat" cmpd="sng">
            <a:solidFill>
              <a:srgbClr val="5ACB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2" name="Google Shape;242;p27"/>
          <p:cNvSpPr txBox="1"/>
          <p:nvPr/>
        </p:nvSpPr>
        <p:spPr>
          <a:xfrm>
            <a:off x="1005503" y="4503608"/>
            <a:ext cx="163140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7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This project has received funding from the European Union’s Horizon Europe research and innovation programme under grant agreement No 101189908.</a:t>
            </a:r>
            <a:endParaRPr lang="tr-TR" sz="7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43" name="Google Shape;243;p27" descr="flag_yellow_high.jp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13160" y="4512636"/>
            <a:ext cx="625040" cy="412832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7"/>
          <p:cNvSpPr txBox="1"/>
          <p:nvPr/>
        </p:nvSpPr>
        <p:spPr>
          <a:xfrm>
            <a:off x="7065572" y="4569010"/>
            <a:ext cx="163140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350" b="0" i="0" u="none" strike="noStrike" cap="none">
                <a:solidFill>
                  <a:srgbClr val="070E4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www.ai4sweng.eu</a:t>
            </a:r>
            <a:endParaRPr lang="tr-TR" sz="1350" b="0" i="0" u="none" strike="noStrike" cap="none">
              <a:solidFill>
                <a:srgbClr val="070E4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44" name="Google Shape;244;p27" descr="A black background with a black square&#10;&#10;AI-generated content may be incorrect.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636906" y="4475919"/>
            <a:ext cx="3064642" cy="551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8" descr="A black and grey pattern&#10;&#10;Yapay zeka tarafından oluşturulan içerik yanlış olabilir."/>
          <p:cNvPicPr preferRelativeResize="0"/>
          <p:nvPr/>
        </p:nvPicPr>
        <p:blipFill rotWithShape="1">
          <a:blip r:embed="rId2">
            <a:alphaModFix amt="70000"/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8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chemeClr val="accent6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48" name="Google Shape;248;p28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36300" y="274408"/>
            <a:ext cx="548657" cy="40070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8"/>
          <p:cNvSpPr txBox="1"/>
          <p:nvPr>
            <p:ph type="subTitle" idx="1"/>
          </p:nvPr>
        </p:nvSpPr>
        <p:spPr>
          <a:xfrm>
            <a:off x="4765200" y="2169339"/>
            <a:ext cx="36588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9pPr>
          </a:lstStyle>
          <a:p/>
        </p:txBody>
      </p:sp>
      <p:sp>
        <p:nvSpPr>
          <p:cNvPr id="250" name="Google Shape;250;p28"/>
          <p:cNvSpPr txBox="1"/>
          <p:nvPr>
            <p:ph type="subTitle" idx="2"/>
          </p:nvPr>
        </p:nvSpPr>
        <p:spPr>
          <a:xfrm>
            <a:off x="4765200" y="2589573"/>
            <a:ext cx="3658800" cy="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1" name="Google Shape;251;p28"/>
          <p:cNvSpPr txBox="1"/>
          <p:nvPr>
            <p:ph type="subTitle" idx="3"/>
          </p:nvPr>
        </p:nvSpPr>
        <p:spPr>
          <a:xfrm>
            <a:off x="4765200" y="1050764"/>
            <a:ext cx="36588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9pPr>
          </a:lstStyle>
          <a:p/>
        </p:txBody>
      </p:sp>
      <p:sp>
        <p:nvSpPr>
          <p:cNvPr id="252" name="Google Shape;252;p28"/>
          <p:cNvSpPr txBox="1"/>
          <p:nvPr>
            <p:ph type="subTitle" idx="4"/>
          </p:nvPr>
        </p:nvSpPr>
        <p:spPr>
          <a:xfrm>
            <a:off x="4765200" y="1470999"/>
            <a:ext cx="3658800" cy="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3" name="Google Shape;253;p28"/>
          <p:cNvSpPr txBox="1"/>
          <p:nvPr>
            <p:ph type="subTitle" idx="5"/>
          </p:nvPr>
        </p:nvSpPr>
        <p:spPr>
          <a:xfrm>
            <a:off x="4765200" y="3287913"/>
            <a:ext cx="36588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9pPr>
          </a:lstStyle>
          <a:p/>
        </p:txBody>
      </p:sp>
      <p:sp>
        <p:nvSpPr>
          <p:cNvPr id="254" name="Google Shape;254;p28"/>
          <p:cNvSpPr txBox="1"/>
          <p:nvPr>
            <p:ph type="subTitle" idx="6"/>
          </p:nvPr>
        </p:nvSpPr>
        <p:spPr>
          <a:xfrm>
            <a:off x="4765200" y="3708147"/>
            <a:ext cx="3658800" cy="586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5" name="Google Shape;255;p28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6" name="Google Shape;256;p28"/>
          <p:cNvSpPr txBox="1"/>
          <p:nvPr>
            <p:ph type="subTitle" idx="7"/>
          </p:nvPr>
        </p:nvSpPr>
        <p:spPr>
          <a:xfrm>
            <a:off x="722375" y="1050764"/>
            <a:ext cx="36588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9pPr>
          </a:lstStyle>
          <a:p/>
        </p:txBody>
      </p:sp>
      <p:sp>
        <p:nvSpPr>
          <p:cNvPr id="257" name="Google Shape;257;p28"/>
          <p:cNvSpPr txBox="1"/>
          <p:nvPr>
            <p:ph type="subTitle" idx="8"/>
          </p:nvPr>
        </p:nvSpPr>
        <p:spPr>
          <a:xfrm>
            <a:off x="722375" y="1470999"/>
            <a:ext cx="3658800" cy="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8" name="Google Shape;258;p28"/>
          <p:cNvSpPr txBox="1"/>
          <p:nvPr>
            <p:ph type="subTitle" idx="9"/>
          </p:nvPr>
        </p:nvSpPr>
        <p:spPr>
          <a:xfrm>
            <a:off x="722375" y="2169339"/>
            <a:ext cx="36588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9pPr>
          </a:lstStyle>
          <a:p/>
        </p:txBody>
      </p:sp>
      <p:sp>
        <p:nvSpPr>
          <p:cNvPr id="259" name="Google Shape;259;p28"/>
          <p:cNvSpPr txBox="1"/>
          <p:nvPr>
            <p:ph type="subTitle" idx="13"/>
          </p:nvPr>
        </p:nvSpPr>
        <p:spPr>
          <a:xfrm>
            <a:off x="722375" y="2589573"/>
            <a:ext cx="3658800" cy="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0" name="Google Shape;260;p28"/>
          <p:cNvSpPr txBox="1"/>
          <p:nvPr>
            <p:ph type="subTitle" idx="14"/>
          </p:nvPr>
        </p:nvSpPr>
        <p:spPr>
          <a:xfrm>
            <a:off x="722375" y="3287913"/>
            <a:ext cx="36588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9pPr>
          </a:lstStyle>
          <a:p/>
        </p:txBody>
      </p:sp>
      <p:sp>
        <p:nvSpPr>
          <p:cNvPr id="261" name="Google Shape;261;p28"/>
          <p:cNvSpPr txBox="1"/>
          <p:nvPr>
            <p:ph type="subTitle" idx="15"/>
          </p:nvPr>
        </p:nvSpPr>
        <p:spPr>
          <a:xfrm>
            <a:off x="722375" y="3708147"/>
            <a:ext cx="3658800" cy="586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262" name="Google Shape;262;p28"/>
          <p:cNvGrpSpPr/>
          <p:nvPr/>
        </p:nvGrpSpPr>
        <p:grpSpPr>
          <a:xfrm flipH="1">
            <a:off x="7869700" y="178555"/>
            <a:ext cx="1788147" cy="355500"/>
            <a:chOff x="229850" y="4608575"/>
            <a:chExt cx="1788147" cy="355500"/>
          </a:xfrm>
        </p:grpSpPr>
        <p:sp>
          <p:nvSpPr>
            <p:cNvPr id="263" name="Google Shape;263;p28"/>
            <p:cNvSpPr/>
            <p:nvPr/>
          </p:nvSpPr>
          <p:spPr>
            <a:xfrm>
              <a:off x="229850" y="4608575"/>
              <a:ext cx="1727700" cy="355500"/>
            </a:xfrm>
            <a:prstGeom prst="roundRect">
              <a:avLst>
                <a:gd name="adj" fmla="val 13038"/>
              </a:avLst>
            </a:prstGeom>
            <a:noFill/>
            <a:ln w="9525" cap="flat" cmpd="sng">
              <a:solidFill>
                <a:schemeClr val="accent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264" name="Google Shape;264;p28"/>
            <p:cNvGrpSpPr/>
            <p:nvPr/>
          </p:nvGrpSpPr>
          <p:grpSpPr>
            <a:xfrm>
              <a:off x="1899502" y="4716312"/>
              <a:ext cx="118495" cy="119191"/>
              <a:chOff x="4512753" y="952912"/>
              <a:chExt cx="118495" cy="119191"/>
            </a:xfrm>
          </p:grpSpPr>
          <p:sp>
            <p:nvSpPr>
              <p:cNvPr id="265" name="Google Shape;265;p28"/>
              <p:cNvSpPr/>
              <p:nvPr/>
            </p:nvSpPr>
            <p:spPr>
              <a:xfrm>
                <a:off x="4540464" y="980619"/>
                <a:ext cx="63074" cy="63776"/>
              </a:xfrm>
              <a:custGeom>
                <a:avLst/>
                <a:gdLst/>
                <a:ahLst/>
                <a:cxnLst/>
                <a:rect l="l" t="t" r="r" b="b"/>
                <a:pathLst>
                  <a:path w="890" h="900" extrusionOk="0">
                    <a:moveTo>
                      <a:pt x="445" y="0"/>
                    </a:moveTo>
                    <a:cubicBezTo>
                      <a:pt x="202" y="0"/>
                      <a:pt x="1" y="201"/>
                      <a:pt x="1" y="455"/>
                    </a:cubicBezTo>
                    <a:cubicBezTo>
                      <a:pt x="1" y="698"/>
                      <a:pt x="202" y="899"/>
                      <a:pt x="445" y="899"/>
                    </a:cubicBezTo>
                    <a:cubicBezTo>
                      <a:pt x="688" y="899"/>
                      <a:pt x="889" y="698"/>
                      <a:pt x="889" y="455"/>
                    </a:cubicBezTo>
                    <a:cubicBezTo>
                      <a:pt x="889" y="201"/>
                      <a:pt x="688" y="0"/>
                      <a:pt x="4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66" name="Google Shape;266;p28"/>
              <p:cNvSpPr/>
              <p:nvPr/>
            </p:nvSpPr>
            <p:spPr>
              <a:xfrm>
                <a:off x="4512753" y="952912"/>
                <a:ext cx="118495" cy="119191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682" extrusionOk="0">
                    <a:moveTo>
                      <a:pt x="836" y="106"/>
                    </a:moveTo>
                    <a:cubicBezTo>
                      <a:pt x="1238" y="106"/>
                      <a:pt x="1566" y="434"/>
                      <a:pt x="1566" y="846"/>
                    </a:cubicBezTo>
                    <a:cubicBezTo>
                      <a:pt x="1566" y="1248"/>
                      <a:pt x="1238" y="1576"/>
                      <a:pt x="836" y="1576"/>
                    </a:cubicBezTo>
                    <a:cubicBezTo>
                      <a:pt x="434" y="1576"/>
                      <a:pt x="106" y="1248"/>
                      <a:pt x="106" y="846"/>
                    </a:cubicBezTo>
                    <a:cubicBezTo>
                      <a:pt x="106" y="434"/>
                      <a:pt x="434" y="106"/>
                      <a:pt x="836" y="106"/>
                    </a:cubicBezTo>
                    <a:close/>
                    <a:moveTo>
                      <a:pt x="836" y="0"/>
                    </a:moveTo>
                    <a:cubicBezTo>
                      <a:pt x="371" y="0"/>
                      <a:pt x="1" y="381"/>
                      <a:pt x="1" y="846"/>
                    </a:cubicBezTo>
                    <a:cubicBezTo>
                      <a:pt x="1" y="1301"/>
                      <a:pt x="371" y="1681"/>
                      <a:pt x="836" y="1681"/>
                    </a:cubicBezTo>
                    <a:cubicBezTo>
                      <a:pt x="1301" y="1681"/>
                      <a:pt x="1671" y="1301"/>
                      <a:pt x="1671" y="846"/>
                    </a:cubicBezTo>
                    <a:cubicBezTo>
                      <a:pt x="1671" y="381"/>
                      <a:pt x="1301" y="0"/>
                      <a:pt x="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</p:grpSp>
      <p:cxnSp>
        <p:nvCxnSpPr>
          <p:cNvPr id="267" name="Google Shape;267;p28"/>
          <p:cNvCxnSpPr>
            <a:endCxn id="268" idx="1"/>
          </p:cNvCxnSpPr>
          <p:nvPr/>
        </p:nvCxnSpPr>
        <p:spPr>
          <a:xfrm>
            <a:off x="5797772" y="4719051"/>
            <a:ext cx="1267800" cy="0"/>
          </a:xfrm>
          <a:prstGeom prst="straightConnector1">
            <a:avLst/>
          </a:prstGeom>
          <a:noFill/>
          <a:ln w="28575" cap="flat" cmpd="sng">
            <a:solidFill>
              <a:srgbClr val="5ACB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9" name="Google Shape;269;p28"/>
          <p:cNvSpPr txBox="1"/>
          <p:nvPr/>
        </p:nvSpPr>
        <p:spPr>
          <a:xfrm>
            <a:off x="1005503" y="4503608"/>
            <a:ext cx="163140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7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This project has received funding from the European Union’s Horizon Europe research and innovation programme under grant agreement No 101189908.</a:t>
            </a:r>
            <a:endParaRPr lang="tr-TR" sz="7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70" name="Google Shape;270;p28" descr="flag_yellow_high.jp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13160" y="4512636"/>
            <a:ext cx="625040" cy="412832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8"/>
          <p:cNvSpPr txBox="1"/>
          <p:nvPr/>
        </p:nvSpPr>
        <p:spPr>
          <a:xfrm>
            <a:off x="7065572" y="4569010"/>
            <a:ext cx="163140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350" b="0" i="0" u="none" strike="noStrike" cap="none">
                <a:solidFill>
                  <a:srgbClr val="070E4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www.ai4sweng.eu</a:t>
            </a:r>
            <a:endParaRPr lang="tr-TR" sz="1350" b="0" i="0" u="none" strike="noStrike" cap="none">
              <a:solidFill>
                <a:srgbClr val="070E4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71" name="Google Shape;271;p28" descr="A black background with a black square&#10;&#10;AI-generated content may be incorrect.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636906" y="4475919"/>
            <a:ext cx="3064642" cy="551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9" descr="A black and grey pattern&#10;&#10;Yapay zeka tarafından oluşturulan içerik yanlış olabilir."/>
          <p:cNvPicPr preferRelativeResize="0"/>
          <p:nvPr/>
        </p:nvPicPr>
        <p:blipFill rotWithShape="1">
          <a:blip r:embed="rId2">
            <a:alphaModFix amt="70000"/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9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chemeClr val="accent6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75" name="Google Shape;275;p29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36300" y="274408"/>
            <a:ext cx="548657" cy="40070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9"/>
          <p:cNvSpPr txBox="1"/>
          <p:nvPr>
            <p:ph type="title"/>
          </p:nvPr>
        </p:nvSpPr>
        <p:spPr>
          <a:xfrm>
            <a:off x="1741375" y="521375"/>
            <a:ext cx="30603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77" name="Google Shape;277;p29"/>
          <p:cNvCxnSpPr>
            <a:endCxn id="278" idx="1"/>
          </p:cNvCxnSpPr>
          <p:nvPr/>
        </p:nvCxnSpPr>
        <p:spPr>
          <a:xfrm>
            <a:off x="5797772" y="4719051"/>
            <a:ext cx="1267800" cy="0"/>
          </a:xfrm>
          <a:prstGeom prst="straightConnector1">
            <a:avLst/>
          </a:prstGeom>
          <a:noFill/>
          <a:ln w="28575" cap="flat" cmpd="sng">
            <a:solidFill>
              <a:srgbClr val="5ACB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9" name="Google Shape;279;p29"/>
          <p:cNvSpPr txBox="1"/>
          <p:nvPr/>
        </p:nvSpPr>
        <p:spPr>
          <a:xfrm>
            <a:off x="1005503" y="4503608"/>
            <a:ext cx="163140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7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This project has received funding from the European Union’s Horizon Europe research and innovation programme under grant agreement No 101189908.</a:t>
            </a:r>
            <a:endParaRPr lang="tr-TR" sz="7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80" name="Google Shape;280;p29" descr="flag_yellow_high.jp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13160" y="4512636"/>
            <a:ext cx="625040" cy="412832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 txBox="1"/>
          <p:nvPr/>
        </p:nvSpPr>
        <p:spPr>
          <a:xfrm>
            <a:off x="7065572" y="4569010"/>
            <a:ext cx="163140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350" b="0" i="0" u="none" strike="noStrike" cap="none">
                <a:solidFill>
                  <a:srgbClr val="070E4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www.ai4sweng.eu</a:t>
            </a:r>
            <a:endParaRPr lang="tr-TR" sz="1350" b="0" i="0" u="none" strike="noStrike" cap="none">
              <a:solidFill>
                <a:srgbClr val="070E4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81" name="Google Shape;281;p29" descr="A black background with a black square&#10;&#10;AI-generated content may be incorrect.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636906" y="4475919"/>
            <a:ext cx="3064642" cy="551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30" descr="A black and grey pattern&#10;&#10;Yapay zeka tarafından oluşturulan içerik yanlış olabilir."/>
          <p:cNvPicPr preferRelativeResize="0"/>
          <p:nvPr/>
        </p:nvPicPr>
        <p:blipFill rotWithShape="1">
          <a:blip r:embed="rId2">
            <a:alphaModFix amt="70000"/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0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chemeClr val="accent6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85" name="Google Shape;285;p30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36300" y="274408"/>
            <a:ext cx="548657" cy="40070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0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7" name="Google Shape;287;p30"/>
          <p:cNvSpPr/>
          <p:nvPr/>
        </p:nvSpPr>
        <p:spPr>
          <a:xfrm>
            <a:off x="8656650" y="-288800"/>
            <a:ext cx="854400" cy="828300"/>
          </a:xfrm>
          <a:prstGeom prst="roundRect">
            <a:avLst>
              <a:gd name="adj" fmla="val 16923"/>
            </a:avLst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88" name="Google Shape;288;p30"/>
          <p:cNvCxnSpPr>
            <a:endCxn id="289" idx="1"/>
          </p:cNvCxnSpPr>
          <p:nvPr/>
        </p:nvCxnSpPr>
        <p:spPr>
          <a:xfrm>
            <a:off x="5797772" y="4719051"/>
            <a:ext cx="1267800" cy="0"/>
          </a:xfrm>
          <a:prstGeom prst="straightConnector1">
            <a:avLst/>
          </a:prstGeom>
          <a:noFill/>
          <a:ln w="28575" cap="flat" cmpd="sng">
            <a:solidFill>
              <a:srgbClr val="5ACB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0" name="Google Shape;290;p30"/>
          <p:cNvSpPr txBox="1"/>
          <p:nvPr/>
        </p:nvSpPr>
        <p:spPr>
          <a:xfrm>
            <a:off x="1005503" y="4503608"/>
            <a:ext cx="163140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7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This project has received funding from the European Union’s Horizon Europe research and innovation programme under grant agreement No 101189908.</a:t>
            </a:r>
            <a:endParaRPr lang="tr-TR" sz="7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91" name="Google Shape;291;p30" descr="flag_yellow_high.jp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13160" y="4512636"/>
            <a:ext cx="625040" cy="412832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0"/>
          <p:cNvSpPr txBox="1"/>
          <p:nvPr/>
        </p:nvSpPr>
        <p:spPr>
          <a:xfrm>
            <a:off x="7065572" y="4569010"/>
            <a:ext cx="163140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350" b="0" i="0" u="none" strike="noStrike" cap="none">
                <a:solidFill>
                  <a:srgbClr val="070E4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www.ai4sweng.eu</a:t>
            </a:r>
            <a:endParaRPr lang="tr-TR" sz="1350" b="0" i="0" u="none" strike="noStrike" cap="none">
              <a:solidFill>
                <a:srgbClr val="070E4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92" name="Google Shape;292;p30" descr="A black background with a black square&#10;&#10;AI-generated content may be incorrect.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636906" y="4475919"/>
            <a:ext cx="3064642" cy="551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1_Thanks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31" descr="A black and grey pattern&#10;&#10;Yapay zeka tarafından oluşturulan içerik yanlış olabilir."/>
          <p:cNvPicPr preferRelativeResize="0"/>
          <p:nvPr/>
        </p:nvPicPr>
        <p:blipFill rotWithShape="1">
          <a:blip r:embed="rId2">
            <a:alphaModFix amt="70000"/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1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chemeClr val="accent6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96" name="Google Shape;296;p3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57391" y="74055"/>
            <a:ext cx="548657" cy="40070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7" name="Google Shape;297;p31"/>
          <p:cNvGrpSpPr/>
          <p:nvPr/>
        </p:nvGrpSpPr>
        <p:grpSpPr>
          <a:xfrm>
            <a:off x="373912" y="510714"/>
            <a:ext cx="8396407" cy="3908252"/>
            <a:chOff x="487350" y="566398"/>
            <a:chExt cx="8169300" cy="4010704"/>
          </a:xfrm>
        </p:grpSpPr>
        <p:sp>
          <p:nvSpPr>
            <p:cNvPr id="298" name="Google Shape;298;p31"/>
            <p:cNvSpPr/>
            <p:nvPr/>
          </p:nvSpPr>
          <p:spPr>
            <a:xfrm rot="10800000">
              <a:off x="487350" y="627965"/>
              <a:ext cx="8169300" cy="3884400"/>
            </a:xfrm>
            <a:prstGeom prst="roundRect">
              <a:avLst>
                <a:gd name="adj" fmla="val 6093"/>
              </a:avLst>
            </a:prstGeom>
            <a:noFill/>
            <a:ln w="9525" cap="flat" cmpd="sng">
              <a:solidFill>
                <a:schemeClr val="accent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299" name="Google Shape;299;p31"/>
            <p:cNvGrpSpPr/>
            <p:nvPr/>
          </p:nvGrpSpPr>
          <p:grpSpPr>
            <a:xfrm rot="10800000">
              <a:off x="4478151" y="4457913"/>
              <a:ext cx="118496" cy="119189"/>
              <a:chOff x="6916887" y="844381"/>
              <a:chExt cx="102870" cy="103481"/>
            </a:xfrm>
          </p:grpSpPr>
          <p:sp>
            <p:nvSpPr>
              <p:cNvPr id="300" name="Google Shape;300;p31"/>
              <p:cNvSpPr/>
              <p:nvPr/>
            </p:nvSpPr>
            <p:spPr>
              <a:xfrm>
                <a:off x="6940943" y="868436"/>
                <a:ext cx="54757" cy="55370"/>
              </a:xfrm>
              <a:custGeom>
                <a:avLst/>
                <a:gdLst/>
                <a:ahLst/>
                <a:cxnLst/>
                <a:rect l="l" t="t" r="r" b="b"/>
                <a:pathLst>
                  <a:path w="890" h="900" extrusionOk="0">
                    <a:moveTo>
                      <a:pt x="445" y="0"/>
                    </a:moveTo>
                    <a:cubicBezTo>
                      <a:pt x="202" y="0"/>
                      <a:pt x="1" y="201"/>
                      <a:pt x="1" y="455"/>
                    </a:cubicBezTo>
                    <a:cubicBezTo>
                      <a:pt x="1" y="698"/>
                      <a:pt x="202" y="899"/>
                      <a:pt x="445" y="899"/>
                    </a:cubicBezTo>
                    <a:cubicBezTo>
                      <a:pt x="688" y="899"/>
                      <a:pt x="889" y="698"/>
                      <a:pt x="889" y="455"/>
                    </a:cubicBezTo>
                    <a:cubicBezTo>
                      <a:pt x="889" y="201"/>
                      <a:pt x="688" y="0"/>
                      <a:pt x="4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01" name="Google Shape;301;p31"/>
              <p:cNvSpPr/>
              <p:nvPr/>
            </p:nvSpPr>
            <p:spPr>
              <a:xfrm>
                <a:off x="6916887" y="844381"/>
                <a:ext cx="102870" cy="103481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682" extrusionOk="0">
                    <a:moveTo>
                      <a:pt x="836" y="106"/>
                    </a:moveTo>
                    <a:cubicBezTo>
                      <a:pt x="1238" y="106"/>
                      <a:pt x="1566" y="434"/>
                      <a:pt x="1566" y="846"/>
                    </a:cubicBezTo>
                    <a:cubicBezTo>
                      <a:pt x="1566" y="1248"/>
                      <a:pt x="1238" y="1576"/>
                      <a:pt x="836" y="1576"/>
                    </a:cubicBezTo>
                    <a:cubicBezTo>
                      <a:pt x="434" y="1576"/>
                      <a:pt x="106" y="1248"/>
                      <a:pt x="106" y="846"/>
                    </a:cubicBezTo>
                    <a:cubicBezTo>
                      <a:pt x="106" y="434"/>
                      <a:pt x="434" y="106"/>
                      <a:pt x="836" y="106"/>
                    </a:cubicBezTo>
                    <a:close/>
                    <a:moveTo>
                      <a:pt x="836" y="0"/>
                    </a:moveTo>
                    <a:cubicBezTo>
                      <a:pt x="371" y="0"/>
                      <a:pt x="1" y="381"/>
                      <a:pt x="1" y="846"/>
                    </a:cubicBezTo>
                    <a:cubicBezTo>
                      <a:pt x="1" y="1301"/>
                      <a:pt x="371" y="1681"/>
                      <a:pt x="836" y="1681"/>
                    </a:cubicBezTo>
                    <a:cubicBezTo>
                      <a:pt x="1301" y="1681"/>
                      <a:pt x="1671" y="1301"/>
                      <a:pt x="1671" y="846"/>
                    </a:cubicBezTo>
                    <a:cubicBezTo>
                      <a:pt x="1671" y="381"/>
                      <a:pt x="1301" y="0"/>
                      <a:pt x="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grpSp>
          <p:nvGrpSpPr>
            <p:cNvPr id="302" name="Google Shape;302;p31"/>
            <p:cNvGrpSpPr/>
            <p:nvPr/>
          </p:nvGrpSpPr>
          <p:grpSpPr>
            <a:xfrm rot="10800000">
              <a:off x="6888914" y="566398"/>
              <a:ext cx="118496" cy="119189"/>
              <a:chOff x="6620258" y="1050444"/>
              <a:chExt cx="102870" cy="103481"/>
            </a:xfrm>
          </p:grpSpPr>
          <p:sp>
            <p:nvSpPr>
              <p:cNvPr id="303" name="Google Shape;303;p31"/>
              <p:cNvSpPr/>
              <p:nvPr/>
            </p:nvSpPr>
            <p:spPr>
              <a:xfrm>
                <a:off x="6644314" y="1074499"/>
                <a:ext cx="54757" cy="55370"/>
              </a:xfrm>
              <a:custGeom>
                <a:avLst/>
                <a:gdLst/>
                <a:ahLst/>
                <a:cxnLst/>
                <a:rect l="l" t="t" r="r" b="b"/>
                <a:pathLst>
                  <a:path w="890" h="900" extrusionOk="0">
                    <a:moveTo>
                      <a:pt x="445" y="0"/>
                    </a:moveTo>
                    <a:cubicBezTo>
                      <a:pt x="202" y="0"/>
                      <a:pt x="1" y="201"/>
                      <a:pt x="1" y="455"/>
                    </a:cubicBezTo>
                    <a:cubicBezTo>
                      <a:pt x="1" y="698"/>
                      <a:pt x="202" y="899"/>
                      <a:pt x="445" y="899"/>
                    </a:cubicBezTo>
                    <a:cubicBezTo>
                      <a:pt x="688" y="899"/>
                      <a:pt x="889" y="698"/>
                      <a:pt x="889" y="455"/>
                    </a:cubicBezTo>
                    <a:cubicBezTo>
                      <a:pt x="889" y="201"/>
                      <a:pt x="688" y="0"/>
                      <a:pt x="4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04" name="Google Shape;304;p31"/>
              <p:cNvSpPr/>
              <p:nvPr/>
            </p:nvSpPr>
            <p:spPr>
              <a:xfrm>
                <a:off x="6620258" y="1050444"/>
                <a:ext cx="102870" cy="103481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682" extrusionOk="0">
                    <a:moveTo>
                      <a:pt x="836" y="106"/>
                    </a:moveTo>
                    <a:cubicBezTo>
                      <a:pt x="1238" y="106"/>
                      <a:pt x="1566" y="434"/>
                      <a:pt x="1566" y="846"/>
                    </a:cubicBezTo>
                    <a:cubicBezTo>
                      <a:pt x="1566" y="1248"/>
                      <a:pt x="1238" y="1576"/>
                      <a:pt x="836" y="1576"/>
                    </a:cubicBezTo>
                    <a:cubicBezTo>
                      <a:pt x="434" y="1576"/>
                      <a:pt x="106" y="1248"/>
                      <a:pt x="106" y="846"/>
                    </a:cubicBezTo>
                    <a:cubicBezTo>
                      <a:pt x="106" y="434"/>
                      <a:pt x="434" y="106"/>
                      <a:pt x="836" y="106"/>
                    </a:cubicBezTo>
                    <a:close/>
                    <a:moveTo>
                      <a:pt x="836" y="0"/>
                    </a:moveTo>
                    <a:cubicBezTo>
                      <a:pt x="371" y="0"/>
                      <a:pt x="1" y="381"/>
                      <a:pt x="1" y="846"/>
                    </a:cubicBezTo>
                    <a:cubicBezTo>
                      <a:pt x="1" y="1301"/>
                      <a:pt x="371" y="1681"/>
                      <a:pt x="836" y="1681"/>
                    </a:cubicBezTo>
                    <a:cubicBezTo>
                      <a:pt x="1301" y="1681"/>
                      <a:pt x="1671" y="1301"/>
                      <a:pt x="1671" y="846"/>
                    </a:cubicBezTo>
                    <a:cubicBezTo>
                      <a:pt x="1671" y="381"/>
                      <a:pt x="1301" y="0"/>
                      <a:pt x="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</p:grpSp>
      <p:sp>
        <p:nvSpPr>
          <p:cNvPr id="305" name="Google Shape;305;p31"/>
          <p:cNvSpPr txBox="1"/>
          <p:nvPr>
            <p:ph type="title"/>
          </p:nvPr>
        </p:nvSpPr>
        <p:spPr>
          <a:xfrm>
            <a:off x="4760975" y="1587088"/>
            <a:ext cx="3555900" cy="9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6" name="Google Shape;306;p31"/>
          <p:cNvSpPr txBox="1"/>
          <p:nvPr>
            <p:ph type="subTitle" idx="1"/>
          </p:nvPr>
        </p:nvSpPr>
        <p:spPr>
          <a:xfrm>
            <a:off x="4760975" y="2569737"/>
            <a:ext cx="3555900" cy="8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cxnSp>
        <p:nvCxnSpPr>
          <p:cNvPr id="307" name="Google Shape;307;p31"/>
          <p:cNvCxnSpPr>
            <a:endCxn id="308" idx="1"/>
          </p:cNvCxnSpPr>
          <p:nvPr/>
        </p:nvCxnSpPr>
        <p:spPr>
          <a:xfrm>
            <a:off x="5797772" y="4719051"/>
            <a:ext cx="1267800" cy="0"/>
          </a:xfrm>
          <a:prstGeom prst="straightConnector1">
            <a:avLst/>
          </a:prstGeom>
          <a:noFill/>
          <a:ln w="28575" cap="flat" cmpd="sng">
            <a:solidFill>
              <a:srgbClr val="5ACB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9" name="Google Shape;309;p31"/>
          <p:cNvSpPr txBox="1"/>
          <p:nvPr/>
        </p:nvSpPr>
        <p:spPr>
          <a:xfrm>
            <a:off x="1005503" y="4503608"/>
            <a:ext cx="163140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7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This project has received funding from the European Union’s Horizon Europe research and innovation programme under grant agreement No 101189908.</a:t>
            </a:r>
            <a:endParaRPr lang="tr-TR" sz="7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10" name="Google Shape;310;p31" descr="flag_yellow_high.jp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13160" y="4512636"/>
            <a:ext cx="625040" cy="412832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1"/>
          <p:cNvSpPr txBox="1"/>
          <p:nvPr/>
        </p:nvSpPr>
        <p:spPr>
          <a:xfrm>
            <a:off x="7065572" y="4569010"/>
            <a:ext cx="163140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350" b="0" i="0" u="none" strike="noStrike" cap="none">
                <a:solidFill>
                  <a:srgbClr val="070E4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www.ai4sweng.eu</a:t>
            </a:r>
            <a:endParaRPr lang="tr-TR" sz="1350" b="0" i="0" u="none" strike="noStrike" cap="none">
              <a:solidFill>
                <a:srgbClr val="070E4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11" name="Google Shape;311;p31" descr="A black background with a black square&#10;&#10;AI-generated content may be incorrect.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636906" y="4475919"/>
            <a:ext cx="3064642" cy="551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los Text ExtraBold" panose="020B0503020202020204"/>
              <a:buNone/>
              <a:defRPr sz="2800" b="0" i="0" u="none" strike="noStrike" cap="none">
                <a:solidFill>
                  <a:schemeClr val="dk1"/>
                </a:solidFill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los Text ExtraBold" panose="020B0503020202020204"/>
              <a:buNone/>
              <a:defRPr sz="2800" b="0" i="0" u="none" strike="noStrike" cap="none">
                <a:solidFill>
                  <a:schemeClr val="dk1"/>
                </a:solidFill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los Text ExtraBold" panose="020B0503020202020204"/>
              <a:buNone/>
              <a:defRPr sz="2800" b="0" i="0" u="none" strike="noStrike" cap="none">
                <a:solidFill>
                  <a:schemeClr val="dk1"/>
                </a:solidFill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los Text ExtraBold" panose="020B0503020202020204"/>
              <a:buNone/>
              <a:defRPr sz="2800" b="0" i="0" u="none" strike="noStrike" cap="none">
                <a:solidFill>
                  <a:schemeClr val="dk1"/>
                </a:solidFill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los Text ExtraBold" panose="020B0503020202020204"/>
              <a:buNone/>
              <a:defRPr sz="2800" b="0" i="0" u="none" strike="noStrike" cap="none">
                <a:solidFill>
                  <a:schemeClr val="dk1"/>
                </a:solidFill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los Text ExtraBold" panose="020B0503020202020204"/>
              <a:buNone/>
              <a:defRPr sz="2800" b="0" i="0" u="none" strike="noStrike" cap="none">
                <a:solidFill>
                  <a:schemeClr val="dk1"/>
                </a:solidFill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los Text ExtraBold" panose="020B0503020202020204"/>
              <a:buNone/>
              <a:defRPr sz="2800" b="0" i="0" u="none" strike="noStrike" cap="none">
                <a:solidFill>
                  <a:schemeClr val="dk1"/>
                </a:solidFill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los Text ExtraBold" panose="020B0503020202020204"/>
              <a:buNone/>
              <a:defRPr sz="2800" b="0" i="0" u="none" strike="noStrike" cap="none">
                <a:solidFill>
                  <a:schemeClr val="dk1"/>
                </a:solidFill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los Text ExtraBold" panose="020B0503020202020204"/>
              <a:buNone/>
              <a:defRPr sz="2800" b="0" i="0" u="none" strike="noStrike" cap="none">
                <a:solidFill>
                  <a:schemeClr val="dk1"/>
                </a:solidFill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9pPr>
          </a:lstStyle>
          <a:p/>
        </p:txBody>
      </p:sp>
      <p:sp>
        <p:nvSpPr>
          <p:cNvPr id="7" name="Google Shape;7;p7"/>
          <p:cNvSpPr txBox="1"/>
          <p:nvPr>
            <p:ph type="body" idx="1"/>
          </p:nvPr>
        </p:nvSpPr>
        <p:spPr>
          <a:xfrm>
            <a:off x="720000" y="1300850"/>
            <a:ext cx="7704000" cy="305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" name="Google Shape;8;p7"/>
          <p:cNvSpPr txBox="1"/>
          <p:nvPr/>
        </p:nvSpPr>
        <p:spPr>
          <a:xfrm>
            <a:off x="6997554" y="480471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z="900" b="0" i="0" u="none" strike="noStrike" cap="none">
                <a:solidFill>
                  <a:srgbClr val="88889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 cap="none">
              <a:solidFill>
                <a:srgbClr val="88889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9" name="Google Shape;9;p7"/>
          <p:cNvCxnSpPr/>
          <p:nvPr/>
        </p:nvCxnSpPr>
        <p:spPr>
          <a:xfrm rot="10800000" flipH="1">
            <a:off x="6216019" y="3555207"/>
            <a:ext cx="3528958" cy="15067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"/>
          <p:cNvSpPr txBox="1"/>
          <p:nvPr>
            <p:ph type="subTitle" idx="1"/>
          </p:nvPr>
        </p:nvSpPr>
        <p:spPr>
          <a:xfrm>
            <a:off x="4422964" y="3668255"/>
            <a:ext cx="4274011" cy="807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tr-TR" sz="1800"/>
              <a:t>Hemanth Singh &amp; Yasin Ünal </a:t>
            </a:r>
            <a:r>
              <a:rPr lang="tr-TR" sz="1800"/>
              <a:t>| BitNet</a:t>
            </a:r>
            <a:endParaRPr lang="tr-TR" sz="1800"/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tr-TR" sz="1800"/>
              <a:t>01</a:t>
            </a:r>
            <a:r>
              <a:rPr lang="tr-TR" sz="1800"/>
              <a:t>.09.2026</a:t>
            </a:r>
            <a:endParaRPr sz="1800"/>
          </a:p>
        </p:txBody>
      </p:sp>
      <p:sp>
        <p:nvSpPr>
          <p:cNvPr id="317" name="Google Shape;317;p1"/>
          <p:cNvSpPr txBox="1"/>
          <p:nvPr>
            <p:ph type="title"/>
          </p:nvPr>
        </p:nvSpPr>
        <p:spPr>
          <a:xfrm>
            <a:off x="1190693" y="3076055"/>
            <a:ext cx="7506281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tr-TR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</a:t>
            </a:r>
            <a:r>
              <a:rPr lang="tr-TR"/>
              <a:t>P6 T6.1 - Observability </a:t>
            </a:r>
            <a:endParaRPr lang="tr-TR"/>
          </a:p>
        </p:txBody>
      </p:sp>
      <p:pic>
        <p:nvPicPr>
          <p:cNvPr id="318" name="Google Shape;318;p1" descr="A blue letter on a black background&#10;&#10;Yapay zeka tarafından oluşturulan içerik yanlış olabilir.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916149" y="1246701"/>
            <a:ext cx="3780826" cy="5166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"/>
          <p:cNvSpPr txBox="1"/>
          <p:nvPr>
            <p:ph type="title"/>
          </p:nvPr>
        </p:nvSpPr>
        <p:spPr>
          <a:xfrm>
            <a:off x="1714950" y="1460850"/>
            <a:ext cx="5714100" cy="22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sz="3200"/>
              <a:t>One observability plane for every KIO agent.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"/>
          <p:cNvSpPr/>
          <p:nvPr/>
        </p:nvSpPr>
        <p:spPr>
          <a:xfrm>
            <a:off x="5646648" y="1002425"/>
            <a:ext cx="2818500" cy="3359400"/>
          </a:xfrm>
          <a:prstGeom prst="roundRect">
            <a:avLst>
              <a:gd name="adj" fmla="val 8661"/>
            </a:avLst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29" name="Google Shape;329;p3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>Contents</a:t>
            </a:r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31" name="Google Shape;331;p3"/>
          <p:cNvSpPr txBox="1"/>
          <p:nvPr>
            <p:ph type="body" idx="1"/>
          </p:nvPr>
        </p:nvSpPr>
        <p:spPr>
          <a:xfrm>
            <a:off x="720000" y="1138204"/>
            <a:ext cx="3852000" cy="2996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Char char="•"/>
            </a:pPr>
            <a:r>
              <a:rPr sz="1500"/>
              <a:t>Why observability</a:t>
            </a:r>
            <a:endParaRPr>
              <a:highlight>
                <a:srgbClr val="FFFFFF"/>
              </a:highlight>
            </a:endParaRPr>
          </a:p>
          <a:p>
            <a:pPr/>
            <a:r>
              <a:rPr sz="1500"/>
              <a:t>End-to-end execution &amp; telemetry flow</a:t>
            </a:r>
          </a:p>
          <a:p>
            <a:pPr/>
            <a:r>
              <a:rPr sz="1500"/>
              <a:t>In-process SDK flow — two parallel streams</a:t>
            </a:r>
          </a:p>
          <a:p>
            <a:pPr/>
            <a:r>
              <a:rPr sz="1500"/>
              <a:t>Grafana dashboard</a:t>
            </a:r>
          </a:p>
          <a:p>
            <a:pPr/>
            <a:r>
              <a:rPr sz="1500"/>
              <a:t>Data contract &amp; onboarding</a:t>
            </a:r>
          </a:p>
          <a:p>
            <a:pPr/>
            <a:r>
              <a:rPr sz="1500"/>
              <a:t>Remote KIO connectivity</a:t>
            </a:r>
          </a:p>
          <a:p>
            <a:pPr/>
            <a:r>
              <a:rPr sz="1500"/>
              <a:t>Key takeaways</a:t>
            </a:r>
          </a:p>
        </p:txBody>
      </p:sp>
      <p:pic>
        <p:nvPicPr>
          <p:cNvPr id="332" name="Picture 33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2725" y="1550279"/>
            <a:ext cx="3054000" cy="22304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t>Why Observability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20000" y="1149037"/>
            <a:ext cx="7704000" cy="3150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15000"/>
              </a:lnSpc>
              <a:spcAft>
                <a:spcPts val="1600"/>
              </a:spcAft>
              <a:buFont typeface="Arial"/>
              <a:buChar char="—"/>
            </a:pPr>
            <a:r>
              <a:rPr sz="1800">
                <a:solidFill>
                  <a:srgbClr val="070E49"/>
                </a:solidFill>
                <a:latin typeface="Arial"/>
              </a:rPr>
              <a:t>KIO microservices are built by different consortium partners, orchestrated together at runtime.</a:t>
            </a:r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Font typeface="Arial"/>
              <a:buChar char="—"/>
            </a:pPr>
            <a:r>
              <a:rPr sz="1800">
                <a:solidFill>
                  <a:srgbClr val="070E49"/>
                </a:solidFill>
                <a:latin typeface="Arial"/>
              </a:rPr>
              <a:t>OpenTelemetry + Langfuse give the platform one standardized view across all of them.</a:t>
            </a:r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Font typeface="Arial"/>
              <a:buChar char="—"/>
            </a:pPr>
            <a:r>
              <a:rPr sz="1800">
                <a:solidFill>
                  <a:srgbClr val="070E49"/>
                </a:solidFill>
                <a:latin typeface="Arial"/>
              </a:rPr>
              <a:t>Orchestrator &amp; worker health, request latency, execution paths, and LLM token usage — one shared contract, one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t>End-to-End Execution &amp; Telemetry Flow</a:t>
            </a:r>
          </a:p>
        </p:txBody>
      </p:sp>
      <p:pic>
        <p:nvPicPr>
          <p:cNvPr id="127" name="Picture 126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4089" y="1149037"/>
            <a:ext cx="3015822" cy="31509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t>End-to-End Flow — Step by Step</a:t>
            </a:r>
          </a:p>
        </p:txBody>
      </p:sp>
      <p:sp>
        <p:nvSpPr>
          <p:cNvPr id="47" name="Google Shape;47;p11"/>
          <p:cNvSpPr txBox="1"/>
          <p:nvPr>
            <p:ph type="body" idx="1"/>
          </p:nvPr>
        </p:nvSpPr>
        <p:spPr>
          <a:xfrm>
            <a:off x="720000" y="1149037"/>
            <a:ext cx="3666900" cy="3044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9pPr>
          </a:lstStyle>
          <a:p>
            <a:pPr/>
            <a:r>
              <a:rPr sz="1150"/>
              <a:t>Orchestration</a:t>
            </a:r>
          </a:p>
          <a:p>
            <a:pPr lvl="1"/>
            <a:r>
              <a:rPr sz="1150"/>
              <a:t>Workflow triggering — client POSTs to the KIO1 Workflow API</a:t>
            </a:r>
          </a:p>
          <a:p>
            <a:pPr lvl="1"/>
            <a:r>
              <a:rPr sz="1150"/>
              <a:t>Session initialisation — Session Manager records the session in PostgreSQL, returns a session id</a:t>
            </a:r>
          </a:p>
          <a:p>
            <a:pPr lvl="1"/>
            <a:r>
              <a:rPr sz="1150"/>
              <a:t>Task routing — Planner &amp; Prompt Router builds the workflow graph, publishes via NATS (KIOEnvelope)</a:t>
            </a:r>
          </a:p>
          <a:p>
            <a:pPr lvl="1"/>
            <a:r>
              <a:rPr sz="1150"/>
              <a:t>Agent execution — NATS routes the envelope to the target KIO container</a:t>
            </a:r>
          </a:p>
        </p:txBody>
      </p:sp>
      <p:sp>
        <p:nvSpPr>
          <p:cNvPr id="48" name="Google Shape;48;p11"/>
          <p:cNvSpPr txBox="1"/>
          <p:nvPr>
            <p:ph type="body" idx="2"/>
          </p:nvPr>
        </p:nvSpPr>
        <p:spPr>
          <a:xfrm>
            <a:off x="4757100" y="1149037"/>
            <a:ext cx="3666900" cy="3044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u="sng"/>
            </a:lvl1pPr>
            <a:lvl2pPr marL="914400" lvl="1" indent="-30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9pPr>
          </a:lstStyle>
          <a:p>
            <a:pPr/>
            <a:r>
              <a:rPr sz="1150"/>
              <a:t>Telemetry &amp; Completion</a:t>
            </a:r>
          </a:p>
          <a:p>
            <a:pPr lvl="1"/>
            <a:r>
              <a:rPr sz="1150"/>
              <a:t>Telemetry transmission — the KIO pushes OTLP (metrics/traces/logs) and Langfuse (prompts/cost) in parallel</a:t>
            </a:r>
          </a:p>
          <a:p>
            <a:pPr lvl="1"/>
            <a:r>
              <a:rPr sz="1150"/>
              <a:t>Telemetry routing — the Collector fans out to VictoriaMetrics, Tempo, VictoriaLogs</a:t>
            </a:r>
          </a:p>
          <a:p>
            <a:pPr lvl="1"/>
            <a:r>
              <a:rPr sz="1150"/>
              <a:t>Task completion &amp; lineage — results return via NATS; the Planner logs output lineage in PostgreSQL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title"/>
          </p:nvPr>
        </p:nvSpPr>
        <p:spPr>
          <a:xfrm>
            <a:off x="720000" y="387600"/>
            <a:ext cx="77016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t>The Observability Stack</a:t>
            </a:r>
          </a:p>
        </p:txBody>
      </p:sp>
      <p:sp>
        <p:nvSpPr>
          <p:cNvPr id="60" name="Google Shape;60;p12"/>
          <p:cNvSpPr txBox="1"/>
          <p:nvPr>
            <p:ph type="subTitle" idx="1"/>
          </p:nvPr>
        </p:nvSpPr>
        <p:spPr>
          <a:xfrm>
            <a:off x="720002" y="1149036"/>
            <a:ext cx="3481668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9pPr>
          </a:lstStyle>
          <a:p>
            <a:pPr/>
            <a:r>
              <a:rPr sz="1500" b="1"/>
              <a:t>VictoriaMetrics</a:t>
            </a:r>
          </a:p>
        </p:txBody>
      </p:sp>
      <p:sp>
        <p:nvSpPr>
          <p:cNvPr id="61" name="Google Shape;61;p12"/>
          <p:cNvSpPr txBox="1"/>
          <p:nvPr>
            <p:ph type="subTitle" idx="2"/>
          </p:nvPr>
        </p:nvSpPr>
        <p:spPr>
          <a:xfrm>
            <a:off x="720000" y="1555090"/>
            <a:ext cx="3481668" cy="10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pPr/>
            <a:r>
              <a:rPr sz="1200"/>
              <a:t>Time-series metrics store — CPU, request counts, durations. Queried via PromQL.</a:t>
            </a:r>
          </a:p>
        </p:txBody>
      </p:sp>
      <p:sp>
        <p:nvSpPr>
          <p:cNvPr id="62" name="Google Shape;62;p12"/>
          <p:cNvSpPr txBox="1"/>
          <p:nvPr>
            <p:ph type="subTitle" idx="3"/>
          </p:nvPr>
        </p:nvSpPr>
        <p:spPr>
          <a:xfrm>
            <a:off x="720002" y="2828246"/>
            <a:ext cx="3481668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9pPr>
          </a:lstStyle>
          <a:p>
            <a:pPr/>
            <a:r>
              <a:rPr sz="1500" b="1"/>
              <a:t>VictoriaLogs</a:t>
            </a:r>
          </a:p>
        </p:txBody>
      </p:sp>
      <p:sp>
        <p:nvSpPr>
          <p:cNvPr id="63" name="Google Shape;63;p12"/>
          <p:cNvSpPr txBox="1"/>
          <p:nvPr>
            <p:ph type="subTitle" idx="4"/>
          </p:nvPr>
        </p:nvSpPr>
        <p:spPr>
          <a:xfrm>
            <a:off x="720000" y="3234312"/>
            <a:ext cx="3481668" cy="10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pPr/>
            <a:r>
              <a:rPr sz="1200"/>
              <a:t>Log store for the KIOs' unstructured telemetry, indexed by session id &amp; kio id. Queried via LogsQL.</a:t>
            </a:r>
          </a:p>
        </p:txBody>
      </p:sp>
      <p:sp>
        <p:nvSpPr>
          <p:cNvPr id="64" name="Google Shape;64;p12"/>
          <p:cNvSpPr txBox="1"/>
          <p:nvPr>
            <p:ph type="subTitle" idx="5"/>
          </p:nvPr>
        </p:nvSpPr>
        <p:spPr>
          <a:xfrm>
            <a:off x="4563150" y="1149036"/>
            <a:ext cx="3481668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9pPr>
          </a:lstStyle>
          <a:p>
            <a:pPr/>
            <a:r>
              <a:rPr sz="1500" b="1"/>
              <a:t>Tempo</a:t>
            </a:r>
          </a:p>
        </p:txBody>
      </p:sp>
      <p:sp>
        <p:nvSpPr>
          <p:cNvPr id="65" name="Google Shape;65;p12"/>
          <p:cNvSpPr txBox="1"/>
          <p:nvPr>
            <p:ph type="subTitle" idx="6"/>
          </p:nvPr>
        </p:nvSpPr>
        <p:spPr>
          <a:xfrm>
            <a:off x="4563151" y="1555084"/>
            <a:ext cx="3481668" cy="10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pPr/>
            <a:r>
              <a:rPr sz="1200"/>
              <a:t>Distributed tracing backend — exact execution timeline &amp; code path across containers. Queried via TraceQL.</a:t>
            </a:r>
          </a:p>
        </p:txBody>
      </p:sp>
      <p:sp>
        <p:nvSpPr>
          <p:cNvPr id="66" name="Google Shape;66;p12"/>
          <p:cNvSpPr txBox="1"/>
          <p:nvPr>
            <p:ph type="subTitle" idx="7"/>
          </p:nvPr>
        </p:nvSpPr>
        <p:spPr>
          <a:xfrm>
            <a:off x="4563150" y="2828241"/>
            <a:ext cx="3481668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9pPr>
          </a:lstStyle>
          <a:p>
            <a:pPr/>
            <a:r>
              <a:rPr sz="1500" b="1"/>
              <a:t>Grafana</a:t>
            </a:r>
          </a:p>
        </p:txBody>
      </p:sp>
      <p:sp>
        <p:nvSpPr>
          <p:cNvPr id="67" name="Google Shape;67;p12"/>
          <p:cNvSpPr txBox="1"/>
          <p:nvPr>
            <p:ph type="subTitle" idx="8"/>
          </p:nvPr>
        </p:nvSpPr>
        <p:spPr>
          <a:xfrm>
            <a:off x="4563151" y="3234328"/>
            <a:ext cx="3481668" cy="10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pPr/>
            <a:r>
              <a:rPr sz="1200"/>
              <a:t>Single web portal — dynamically filters and renders all three stores on one interactive screen.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t>In-Process SDK Flow</a:t>
            </a:r>
          </a:p>
        </p:txBody>
      </p:sp>
      <p:pic>
        <p:nvPicPr>
          <p:cNvPr id="127" name="Picture 126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054" y="1149037"/>
            <a:ext cx="3115892" cy="31509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t>Two Parallel Telemetry Streams</a:t>
            </a:r>
            <a:endParaRPr lang="tr-TR"/>
          </a:p>
        </p:txBody>
      </p:sp>
      <p:sp>
        <p:nvSpPr>
          <p:cNvPr id="337" name="Google Shape;337;p4"/>
          <p:cNvSpPr txBox="1"/>
          <p:nvPr>
            <p:ph type="body" idx="1"/>
          </p:nvPr>
        </p:nvSpPr>
        <p:spPr>
          <a:xfrm>
            <a:off x="720000" y="1149037"/>
            <a:ext cx="3666900" cy="3044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rPr sz="1300"/>
              <a:t>OpenTelemetry stream</a:t>
            </a:r>
            <a:endParaRPr>
              <a:highlight>
                <a:srgbClr val="FFFFFF"/>
              </a:highlight>
            </a:endParaRPr>
          </a:p>
          <a:p>
            <a:pPr lvl="1"/>
            <a:r>
              <a:rPr sz="1300"/>
              <a:t>MeterProvider binds kio.id, service.name/version, deployment.environment</a:t>
            </a:r>
          </a:p>
          <a:p>
            <a:pPr lvl="1"/>
            <a:r>
              <a:rPr sz="1300"/>
              <a:t>Metric instruments record counts, durations, active sessions</a:t>
            </a:r>
          </a:p>
          <a:p>
            <a:pPr lvl="1"/>
            <a:r>
              <a:rPr sz="1300"/>
              <a:t>Buffered up to 15s, then pushed as OTLP over gRPC (4317) or HTTP (4318), bearer-token authenticated</a:t>
            </a:r>
          </a:p>
        </p:txBody>
      </p:sp>
      <p:sp>
        <p:nvSpPr>
          <p:cNvPr id="338" name="Google Shape;338;p4"/>
          <p:cNvSpPr txBox="1"/>
          <p:nvPr>
            <p:ph type="body" idx="2"/>
          </p:nvPr>
        </p:nvSpPr>
        <p:spPr>
          <a:xfrm>
            <a:off x="4757100" y="1149037"/>
            <a:ext cx="3666900" cy="3044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300"/>
              <a:t>Langfuse stream</a:t>
            </a:r>
            <a:endParaRPr u="none"/>
          </a:p>
          <a:p>
            <a:pPr lvl="1"/>
            <a:r>
              <a:rPr sz="1300"/>
              <a:t>@observe() decorator intercepts the handler, opens a session trace</a:t>
            </a:r>
          </a:p>
          <a:p>
            <a:pPr lvl="1"/>
            <a:r>
              <a:rPr sz="1300"/>
              <a:t>Child spans capture prompt text, model, tokens, and duration per LLM/tool call</a:t>
            </a:r>
          </a:p>
          <a:p>
            <a:pPr lvl="1"/>
            <a:r>
              <a:rPr sz="1300"/>
              <a:t>Session id &amp; kio id stamped as trace metadata, matching the OTel attributes; sent as JSON over HTTPS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title"/>
          </p:nvPr>
        </p:nvSpPr>
        <p:spPr>
          <a:xfrm>
            <a:off x="720000" y="387600"/>
            <a:ext cx="77016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t>Grafana Dashboard</a:t>
            </a:r>
          </a:p>
        </p:txBody>
      </p:sp>
      <p:sp>
        <p:nvSpPr>
          <p:cNvPr id="60" name="Google Shape;60;p12"/>
          <p:cNvSpPr txBox="1"/>
          <p:nvPr>
            <p:ph type="subTitle" idx="1"/>
          </p:nvPr>
        </p:nvSpPr>
        <p:spPr>
          <a:xfrm>
            <a:off x="720002" y="1149036"/>
            <a:ext cx="3481668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9pPr>
          </a:lstStyle>
          <a:p>
            <a:pPr/>
            <a:r>
              <a:rPr sz="1500" b="1"/>
              <a:t>System Liveness &amp; Concurrency</a:t>
            </a:r>
          </a:p>
        </p:txBody>
      </p:sp>
      <p:sp>
        <p:nvSpPr>
          <p:cNvPr id="61" name="Google Shape;61;p12"/>
          <p:cNvSpPr txBox="1"/>
          <p:nvPr>
            <p:ph type="subTitle" idx="2"/>
          </p:nvPr>
        </p:nvSpPr>
        <p:spPr>
          <a:xfrm>
            <a:off x="720000" y="1555090"/>
            <a:ext cx="3481668" cy="10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pPr/>
            <a:r>
              <a:rPr sz="1200"/>
              <a:t>Heartbeat state timeline (green/red per KIO) and active-session count — VictoriaMetrics / PromQL.</a:t>
            </a:r>
          </a:p>
        </p:txBody>
      </p:sp>
      <p:sp>
        <p:nvSpPr>
          <p:cNvPr id="62" name="Google Shape;62;p12"/>
          <p:cNvSpPr txBox="1"/>
          <p:nvPr>
            <p:ph type="subTitle" idx="3"/>
          </p:nvPr>
        </p:nvSpPr>
        <p:spPr>
          <a:xfrm>
            <a:off x="720002" y="2828246"/>
            <a:ext cx="3481668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9pPr>
          </a:lstStyle>
          <a:p>
            <a:pPr/>
            <a:r>
              <a:rPr sz="1500" b="1"/>
              <a:t>Reliability &amp; Tracing</a:t>
            </a:r>
          </a:p>
        </p:txBody>
      </p:sp>
      <p:sp>
        <p:nvSpPr>
          <p:cNvPr id="63" name="Google Shape;63;p12"/>
          <p:cNvSpPr txBox="1"/>
          <p:nvPr>
            <p:ph type="subTitle" idx="4"/>
          </p:nvPr>
        </p:nvSpPr>
        <p:spPr>
          <a:xfrm>
            <a:off x="720000" y="3234312"/>
            <a:ext cx="3481668" cy="10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pPr/>
            <a:r>
              <a:rPr sz="1200"/>
              <a:t>Console logs via VictoriaLogs (LogsQL) and per-span trace waterfall via Tempo (TraceQL).</a:t>
            </a:r>
          </a:p>
        </p:txBody>
      </p:sp>
      <p:sp>
        <p:nvSpPr>
          <p:cNvPr id="64" name="Google Shape;64;p12"/>
          <p:cNvSpPr txBox="1"/>
          <p:nvPr>
            <p:ph type="subTitle" idx="5"/>
          </p:nvPr>
        </p:nvSpPr>
        <p:spPr>
          <a:xfrm>
            <a:off x="4563150" y="1149036"/>
            <a:ext cx="3481668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9pPr>
          </a:lstStyle>
          <a:p>
            <a:pPr/>
            <a:r>
              <a:rPr sz="1500" b="1"/>
              <a:t>Performance &amp; Volumetrics</a:t>
            </a:r>
          </a:p>
        </p:txBody>
      </p:sp>
      <p:sp>
        <p:nvSpPr>
          <p:cNvPr id="65" name="Google Shape;65;p12"/>
          <p:cNvSpPr txBox="1"/>
          <p:nvPr>
            <p:ph type="subTitle" idx="6"/>
          </p:nvPr>
        </p:nvSpPr>
        <p:spPr>
          <a:xfrm>
            <a:off x="4563151" y="1555084"/>
            <a:ext cx="3481668" cy="10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pPr/>
            <a:r>
              <a:rPr sz="1200"/>
              <a:t>Request rate (OK vs error) and P50 / P95 / P99 latency — VictoriaMetrics / PromQL.</a:t>
            </a:r>
          </a:p>
        </p:txBody>
      </p:sp>
      <p:sp>
        <p:nvSpPr>
          <p:cNvPr id="66" name="Google Shape;66;p12"/>
          <p:cNvSpPr txBox="1"/>
          <p:nvPr>
            <p:ph type="subTitle" idx="7"/>
          </p:nvPr>
        </p:nvSpPr>
        <p:spPr>
          <a:xfrm>
            <a:off x="4563150" y="2828241"/>
            <a:ext cx="3481668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latin typeface="Golos Text ExtraBold" panose="020B0503020202020204"/>
                <a:ea typeface="Golos Text ExtraBold" panose="020B0503020202020204"/>
                <a:cs typeface="Golos Text ExtraBold" panose="020B0503020202020204"/>
                <a:sym typeface="Golos Text ExtraBold" panose="020B0503020202020204"/>
              </a:defRPr>
            </a:lvl9pPr>
          </a:lstStyle>
          <a:p>
            <a:pPr/>
            <a:r>
              <a:rPr sz="1500" b="1"/>
              <a:t>AI Economics</a:t>
            </a:r>
          </a:p>
        </p:txBody>
      </p:sp>
      <p:sp>
        <p:nvSpPr>
          <p:cNvPr id="67" name="Google Shape;67;p12"/>
          <p:cNvSpPr txBox="1"/>
          <p:nvPr>
            <p:ph type="subTitle" idx="8"/>
          </p:nvPr>
        </p:nvSpPr>
        <p:spPr>
          <a:xfrm>
            <a:off x="4563151" y="3234328"/>
            <a:ext cx="3481668" cy="10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pPr/>
            <a:r>
              <a:rPr sz="1200"/>
              <a:t>Cumulative LLM cost (USD) and input/output token throughput — VictoriaMetrics / PromQL.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t>Mandatory Metrics Contract</a:t>
            </a:r>
          </a:p>
        </p:txBody>
      </p:sp>
      <p:graphicFrame>
        <p:nvGraphicFramePr>
          <p:cNvPr id="127" name="Table 126"/>
          <p:cNvGraphicFramePr>
            <a:graphicFrameLocks noGrp="1"/>
          </p:cNvGraphicFramePr>
          <p:nvPr/>
        </p:nvGraphicFramePr>
        <p:xfrm>
          <a:off x="720000" y="1149037"/>
          <a:ext cx="7704000" cy="26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0000"/>
                <a:gridCol w="1550000"/>
                <a:gridCol w="1000000"/>
                <a:gridCol w="2504000"/>
              </a:tblGrid>
              <a:tr h="360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>
                    <a:solidFill>
                      <a:srgbClr val="542F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>
                    <a:solidFill>
                      <a:srgbClr val="542F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Unit</a:t>
                      </a:r>
                    </a:p>
                  </a:txBody>
                  <a:tcPr>
                    <a:solidFill>
                      <a:srgbClr val="542F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Description</a:t>
                      </a:r>
                    </a:p>
                  </a:txBody>
                  <a:tcPr>
                    <a:solidFill>
                      <a:srgbClr val="542FD0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070E49"/>
                          </a:solidFill>
                          <a:latin typeface="Arial"/>
                        </a:rPr>
                        <a:t>kio.request.count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070E49"/>
                          </a:solidFill>
                          <a:latin typeface="Arial"/>
                        </a:rPr>
                        <a:t>Counter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070E49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070E49"/>
                          </a:solidFill>
                          <a:latin typeface="Arial"/>
                        </a:rPr>
                        <a:t>Total requests (status = ok | error)</a:t>
                      </a:r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070E49"/>
                          </a:solidFill>
                          <a:latin typeface="Arial"/>
                        </a:rPr>
                        <a:t>kio.request.duration_ms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070E49"/>
                          </a:solidFill>
                          <a:latin typeface="Arial"/>
                        </a:rPr>
                        <a:t>Histogram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070E49"/>
                          </a:solidFill>
                          <a:latin typeface="Arial"/>
                        </a:rPr>
                        <a:t>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070E49"/>
                          </a:solidFill>
                          <a:latin typeface="Arial"/>
                        </a:rPr>
                        <a:t>End-to-end request latency</a:t>
                      </a:r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070E49"/>
                          </a:solidFill>
                          <a:latin typeface="Arial"/>
                        </a:rPr>
                        <a:t>kio.request.error_count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070E49"/>
                          </a:solidFill>
                          <a:latin typeface="Arial"/>
                        </a:rPr>
                        <a:t>Counter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070E49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070E49"/>
                          </a:solidFill>
                          <a:latin typeface="Arial"/>
                        </a:rPr>
                        <a:t>Errors by category (error_type)</a:t>
                      </a:r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070E49"/>
                          </a:solidFill>
                          <a:latin typeface="Arial"/>
                        </a:rPr>
                        <a:t>kio.llm.token_count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070E49"/>
                          </a:solidFill>
                          <a:latin typeface="Arial"/>
                        </a:rPr>
                        <a:t>Counter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070E49"/>
                          </a:solidFill>
                          <a:latin typeface="Arial"/>
                        </a:rPr>
                        <a:t>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070E49"/>
                          </a:solidFill>
                          <a:latin typeface="Arial"/>
                        </a:rPr>
                        <a:t>Input / output tokens (direction)</a:t>
                      </a:r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070E49"/>
                          </a:solidFill>
                          <a:latin typeface="Arial"/>
                        </a:rPr>
                        <a:t>kio.llm.cost_usd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070E49"/>
                          </a:solidFill>
                          <a:latin typeface="Arial"/>
                        </a:rPr>
                        <a:t>Counter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070E49"/>
                          </a:solidFill>
                          <a:latin typeface="Arial"/>
                        </a:rPr>
                        <a:t>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070E49"/>
                          </a:solidFill>
                          <a:latin typeface="Arial"/>
                        </a:rPr>
                        <a:t>Estimated LLM API cost</a:t>
                      </a:r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070E49"/>
                          </a:solidFill>
                          <a:latin typeface="Arial"/>
                        </a:rPr>
                        <a:t>kio.session.active_count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070E49"/>
                          </a:solidFill>
                          <a:latin typeface="Arial"/>
                        </a:rPr>
                        <a:t>UpDownCounter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070E49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070E49"/>
                          </a:solidFill>
                          <a:latin typeface="Arial"/>
                        </a:rPr>
                        <a:t>Concurrent active requests</a:t>
                      </a:r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070E49"/>
                          </a:solidFill>
                          <a:latin typeface="Arial"/>
                        </a:rPr>
                        <a:t>kio.heartbeat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070E49"/>
                          </a:solidFill>
                          <a:latin typeface="Arial"/>
                        </a:rPr>
                        <a:t>Counter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070E49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070E49"/>
                          </a:solidFill>
                          <a:latin typeface="Arial"/>
                        </a:rPr>
                        <a:t>Liveness tick, every 60 seconds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8" name="TextBox 127"/>
          <p:cNvSpPr txBox="1"/>
          <p:nvPr/>
        </p:nvSpPr>
        <p:spPr>
          <a:xfrm>
            <a:off x="720000" y="3939037"/>
            <a:ext cx="7704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>
                <a:solidFill>
                  <a:srgbClr val="070E49"/>
                </a:solidFill>
                <a:latin typeface="Arial"/>
              </a:rPr>
              <a:t>Every metric also carries the kio.id label. Names are permanent once released — dot notation kio.&lt;domain&gt;.&lt;metric&gt;.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t>Rules &amp; Conventions</a:t>
            </a:r>
          </a:p>
        </p:txBody>
      </p:sp>
      <p:sp>
        <p:nvSpPr>
          <p:cNvPr id="116" name="Google Shape;116;p16"/>
          <p:cNvSpPr txBox="1"/>
          <p:nvPr>
            <p:ph type="body" idx="1"/>
          </p:nvPr>
        </p:nvSpPr>
        <p:spPr>
          <a:xfrm>
            <a:off x="720000" y="1149037"/>
            <a:ext cx="7704000" cy="3150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9pPr>
          </a:lstStyle>
          <a:p>
            <a:pPr/>
            <a:r>
              <a:rPr sz="1700"/>
              <a:t>Naming — dot notation kio.&lt;domain&gt;.&lt;metric&gt;, never renamed once released</a:t>
            </a:r>
          </a:p>
          <a:p>
            <a:pPr/>
            <a:r>
              <a:rPr sz="1700"/>
              <a:t>Low cardinality — no session ids, user names, or URLs as metric labels; session id lives in trace metadata only</a:t>
            </a:r>
          </a:p>
          <a:p>
            <a:pPr/>
            <a:r>
              <a:rPr sz="1700"/>
              <a:t>No secrets or PII — never in metric labels or Langfuse payloads</a:t>
            </a:r>
          </a:p>
          <a:p>
            <a:pPr/>
            <a:r>
              <a:rPr sz="1700"/>
              <a:t>Heartbeat — background counter every 60s; silence beyond 120s flags the KIO offline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2"/>
          <p:cNvSpPr txBox="1"/>
          <p:nvPr>
            <p:ph type="title"/>
          </p:nvPr>
        </p:nvSpPr>
        <p:spPr>
          <a:xfrm>
            <a:off x="722299" y="1716600"/>
            <a:ext cx="3849600" cy="12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120s</a:t>
            </a:r>
          </a:p>
        </p:txBody>
      </p:sp>
      <p:sp>
        <p:nvSpPr>
          <p:cNvPr id="180" name="Google Shape;180;p22"/>
          <p:cNvSpPr txBox="1"/>
          <p:nvPr>
            <p:ph type="subTitle" idx="1"/>
          </p:nvPr>
        </p:nvSpPr>
        <p:spPr>
          <a:xfrm flipH="1">
            <a:off x="722200" y="3089767"/>
            <a:ext cx="3096600" cy="5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9pPr>
          </a:lstStyle>
          <a:p>
            <a:pPr/>
            <a:r>
              <a:rPr sz="1400"/>
              <a:t>Maximum heartbeat silence before a KIO is flagged offline in the platform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/>
          <p:nvPr>
            <p:ph type="body" idx="1"/>
          </p:nvPr>
        </p:nvSpPr>
        <p:spPr>
          <a:xfrm>
            <a:off x="720000" y="1401575"/>
            <a:ext cx="7704000" cy="2740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1600"/>
            </a:lvl2pPr>
            <a:lvl3pPr marL="137160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>
            <a:pPr/>
            <a:r>
              <a:rPr sz="1500"/>
              <a:t>1.  Request credentials — OTLP bearer token + Langfuse public/secret keys from the platform team</a:t>
            </a:r>
          </a:p>
          <a:p>
            <a:pPr/>
            <a:r>
              <a:rPr sz="1500"/>
              <a:t>2.  Configure environment — OTEL_EXPORTER_OTLP_ENDPOINT, _HEADERS, _RESOURCE_ATTRIBUTES, LANGFUSE_* variables</a:t>
            </a:r>
          </a:p>
          <a:p>
            <a:pPr/>
            <a:r>
              <a:rPr sz="1500"/>
              <a:t>3.  Install packages — opentelemetry-api / -sdk + an OTLP exporter + langfuse</a:t>
            </a:r>
          </a:p>
          <a:p>
            <a:pPr/>
            <a:r>
              <a:rPr sz="1500"/>
              <a:t>4.  Initialise the SDKs — register the global MeterProvider at start-up</a:t>
            </a:r>
          </a:p>
          <a:p>
            <a:pPr/>
            <a:r>
              <a:rPr sz="1500"/>
              <a:t>5.  Verify — confirm kio.heartbeat in Grafana and a trace in Langfuse</a:t>
            </a:r>
          </a:p>
        </p:txBody>
      </p:sp>
      <p:sp>
        <p:nvSpPr>
          <p:cNvPr id="137" name="Google Shape;137;p18"/>
          <p:cNvSpPr txBox="1"/>
          <p:nvPr>
            <p:ph type="title"/>
          </p:nvPr>
        </p:nvSpPr>
        <p:spPr>
          <a:xfrm>
            <a:off x="720000" y="387600"/>
            <a:ext cx="6411004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t>Onboarding — Connecting a New KIO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t>Remote KIO Connectivity</a:t>
            </a:r>
          </a:p>
        </p:txBody>
      </p:sp>
      <p:sp>
        <p:nvSpPr>
          <p:cNvPr id="116" name="Google Shape;116;p16"/>
          <p:cNvSpPr txBox="1"/>
          <p:nvPr>
            <p:ph type="body" idx="1"/>
          </p:nvPr>
        </p:nvSpPr>
        <p:spPr>
          <a:xfrm>
            <a:off x="720000" y="1149037"/>
            <a:ext cx="7704000" cy="3150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9pPr>
          </a:lstStyle>
          <a:p>
            <a:pPr/>
            <a:r>
              <a:rPr sz="1600"/>
              <a:t>Push-based by design — the platform never pulls; a KIO only needs outbound reach to the collector</a:t>
            </a:r>
          </a:p>
          <a:p>
            <a:pPr/>
            <a:r>
              <a:rPr sz="1600"/>
              <a:t>Location-independent — same LAN, or across networks via a VPN such as Tailscale; only the endpoint host changes, no code change</a:t>
            </a:r>
          </a:p>
          <a:p>
            <a:pPr/>
            <a:r>
              <a:rPr sz="1600"/>
              <a:t>Firewall — the platform host must allow inbound traffic on the OTLP port (4317/4318), or share a VPN</a:t>
            </a:r>
          </a:p>
          <a:p>
            <a:pPr/>
            <a:r>
              <a:rPr sz="1600"/>
              <a:t>Same bearer token, sent via OTEL_EXPORTER_OTLP_HEADERS</a:t>
            </a:r>
          </a:p>
          <a:p>
            <a:pPr/>
            <a:r>
              <a:rPr sz="1600"/>
              <a:t>Verify — a TCP check to the port, then confirm kio.heartbeat in Grafana (KIO Detail)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/>
          <p:nvPr>
            <p:ph type="body" idx="1"/>
          </p:nvPr>
        </p:nvSpPr>
        <p:spPr>
          <a:xfrm>
            <a:off x="720000" y="1133407"/>
            <a:ext cx="3852000" cy="2791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1600"/>
            </a:lvl2pPr>
            <a:lvl3pPr marL="137160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>
            <a:pPr/>
            <a:r>
              <a:rPr sz="1300"/>
              <a:t>One shared contract — 7 mandatory metrics, dot-notation names, permanent once released</a:t>
            </a:r>
          </a:p>
          <a:p>
            <a:pPr/>
            <a:r>
              <a:rPr sz="1300"/>
              <a:t>Two parallel streams — OpenTelemetry and Langfuse, bound to the same kio.id and session.id</a:t>
            </a:r>
          </a:p>
          <a:p>
            <a:pPr/>
            <a:r>
              <a:rPr sz="1300"/>
              <a:t>One Grafana pane — VictoriaMetrics + Tempo + VictoriaLogs, filterable by container and session</a:t>
            </a:r>
          </a:p>
          <a:p>
            <a:pPr/>
            <a:r>
              <a:rPr sz="1300"/>
              <a:t>Push-based &amp; remote-friendly — any KIO connects the same way, with no code change</a:t>
            </a:r>
          </a:p>
          <a:p>
            <a:pPr/>
            <a:r>
              <a:rPr sz="1300"/>
              <a:t>Secured — bearer-token authenticated OTLP; low-cardinality, secret-free telemetry by design</a:t>
            </a:r>
          </a:p>
        </p:txBody>
      </p:sp>
      <p:sp>
        <p:nvSpPr>
          <p:cNvPr id="201" name="Google Shape;201;p24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t>Key Takeaways</a:t>
            </a:r>
          </a:p>
        </p:txBody>
      </p:sp>
      <p:pic>
        <p:nvPicPr>
          <p:cNvPr id="202" name="Picture 20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2300" y="1550835"/>
            <a:ext cx="3054000" cy="223044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6"/>
          <p:cNvSpPr txBox="1"/>
          <p:nvPr>
            <p:ph type="title"/>
          </p:nvPr>
        </p:nvSpPr>
        <p:spPr>
          <a:xfrm>
            <a:off x="4760975" y="1587088"/>
            <a:ext cx="3555900" cy="9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tr-TR"/>
              <a:t>THANKS!</a:t>
            </a:r>
            <a:endParaRPr lang="tr-TR"/>
          </a:p>
        </p:txBody>
      </p:sp>
      <p:sp>
        <p:nvSpPr>
          <p:cNvPr id="357" name="Google Shape;357;p6"/>
          <p:cNvSpPr txBox="1"/>
          <p:nvPr>
            <p:ph type="subTitle" idx="1"/>
          </p:nvPr>
        </p:nvSpPr>
        <p:spPr>
          <a:xfrm>
            <a:off x="4760975" y="2569737"/>
            <a:ext cx="3555900" cy="8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tr-TR" b="1"/>
              <a:t>Do you have any questions?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altLang="en-US" b="1"/>
              <a:t>hemant@bitnet.com.tr</a:t>
            </a:r>
            <a:endParaRPr lang="en-US" altLang="en-US"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tr-TR" altLang="en-US" b="1"/>
              <a:t>yasin@bitnet.com.tr</a:t>
            </a:r>
            <a:endParaRPr lang="tr-TR" altLang="en-US" b="1"/>
          </a:p>
        </p:txBody>
      </p:sp>
      <p:pic>
        <p:nvPicPr>
          <p:cNvPr id="358" name="Google Shape;358;p6" descr="A blue logo with a black background&#10;&#10;Yapay zeka tarafından oluşturulan içerik yanlış olabilir.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09627" y="1093156"/>
            <a:ext cx="2920851" cy="2559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I4SWENG Presentation Template">
  <a:themeElements>
    <a:clrScheme name="Simple Light">
      <a:dk1>
        <a:srgbClr val="070E49"/>
      </a:dk1>
      <a:lt1>
        <a:srgbClr val="FFFFFF"/>
      </a:lt1>
      <a:dk2>
        <a:srgbClr val="DED7FF"/>
      </a:dk2>
      <a:lt2>
        <a:srgbClr val="B19CFE"/>
      </a:lt2>
      <a:accent1>
        <a:srgbClr val="542FD0"/>
      </a:accent1>
      <a:accent2>
        <a:srgbClr val="F61B93"/>
      </a:accent2>
      <a:accent3>
        <a:srgbClr val="FFC655"/>
      </a:accent3>
      <a:accent4>
        <a:srgbClr val="FFFFFF"/>
      </a:accent4>
      <a:accent5>
        <a:srgbClr val="FFFFFF"/>
      </a:accent5>
      <a:accent6>
        <a:srgbClr val="FFFFFF"/>
      </a:accent6>
      <a:hlink>
        <a:srgbClr val="070E4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</Words>
  <Application>WPS Presentation</Application>
  <PresentationFormat/>
  <Paragraphs>17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8" baseType="lpstr">
      <vt:lpstr>Arial</vt:lpstr>
      <vt:lpstr>SimSun</vt:lpstr>
      <vt:lpstr>Wingdings</vt:lpstr>
      <vt:lpstr>Arial</vt:lpstr>
      <vt:lpstr>Golos Text ExtraBold</vt:lpstr>
      <vt:lpstr>DM Sans</vt:lpstr>
      <vt:lpstr>Roboto Condensed Light</vt:lpstr>
      <vt:lpstr>Roboto</vt:lpstr>
      <vt:lpstr>Palanquin Dark</vt:lpstr>
      <vt:lpstr>Fredoka</vt:lpstr>
      <vt:lpstr>Microsoft YaHei</vt:lpstr>
      <vt:lpstr>Arial Unicode MS</vt:lpstr>
      <vt:lpstr>AI4SWENG Presentation Template</vt:lpstr>
      <vt:lpstr>WP6 T6.1 - Observability </vt:lpstr>
      <vt:lpstr>PowerPoint 演示文稿</vt:lpstr>
      <vt:lpstr>CONTENTS</vt:lpstr>
      <vt:lpstr>CONTENTS</vt:lpstr>
      <vt:lpstr>THANKS!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WP6 T6.1 - Observability </dc:title>
  <dc:creator>Omer</dc:creator>
  <cp:lastModifiedBy>Yasin Ünal</cp:lastModifiedBy>
  <cp:revision>3</cp:revision>
  <dcterms:created xsi:type="dcterms:W3CDTF">2026-08-25T10:47:48Z</dcterms:created>
  <dcterms:modified xsi:type="dcterms:W3CDTF">2026-08-25T10:48:06Z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0x0101005053F680AB723E448367B537FE4F4FBA</vt:lpwstr>
  </property>
  <property fmtid="{D5CDD505-2E9C-101B-9397-08002B2CF9AE}" pid="3" name="MediaServiceImageTags">
    <vt:lpwstr/>
  </property>
  <property fmtid="{D5CDD505-2E9C-101B-9397-08002B2CF9AE}" pid="4" name="ICV">
    <vt:lpwstr>2E5DDEF2BD8149CD807707F928B82091_12</vt:lpwstr>
  </property>
  <property fmtid="{D5CDD505-2E9C-101B-9397-08002B2CF9AE}" pid="5" name="KSOProductBuildVer">
    <vt:lpwstr>1033-12.1.0.28032</vt:lpwstr>
  </property>
</Properties>
</file>